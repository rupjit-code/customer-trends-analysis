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B2B"/>
                </a:solidFill>
                <a:latin typeface="Calibri"/>
              </a:defRPr>
            </a:pPr>
            <a:r>
              <a:rPr sz="1300" b="0" i="0" u="none" strike="noStrike">
                <a:solidFill>
                  <a:srgbClr val="2B2B2B"/>
                </a:solidFill>
                <a:latin typeface="Calibri"/>
              </a:rPr>
              <a:t>Revenue by category ($K)</a:t>
            </a:r>
          </a:p>
        </c:rich>
      </c:tx>
      <c:layout/>
      <c:overlay val="0"/>
    </c:title>
    <c:autoTitleDeleted val="0"/>
    <c:plotArea>
      <c:layout/>
      <c:barChart>
        <c:barDir val="col"/>
        <c:grouping val="clustered"/>
        <c:varyColors val="0"/>
        <c:ser>
          <c:idx val="0"/>
          <c:order val="0"/>
          <c:tx>
            <c:strRef>
              <c:f>Sheet1!$B$1</c:f>
              <c:strCache>
                <c:ptCount val="1"/>
                <c:pt idx="0">
                  <c:v>Revenue ($K)</c:v>
                </c:pt>
              </c:strCache>
            </c:strRef>
          </c:tx>
          <c:spPr>
            <a:solidFill>
              <a:srgbClr val="7B2420"/>
            </a:solidFill>
            <a:effectLst/>
          </c:spPr>
          <c:invertIfNegative val="0"/>
          <c:dLbls>
            <c:numFmt formatCode="0" sourceLinked="0"/>
            <c:txPr>
              <a:bodyPr/>
              <a:lstStyle/>
              <a:p>
                <a:pPr>
                  <a:defRPr b="0" i="0" strike="noStrike" sz="1100" u="none">
                    <a:solidFill>
                      <a:srgbClr val="2B2B2B"/>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Clothing</c:v>
                  </c:pt>
                  <c:pt idx="1">
                    <c:v>Accessories</c:v>
                  </c:pt>
                  <c:pt idx="2">
                    <c:v>Footwear</c:v>
                  </c:pt>
                  <c:pt idx="3">
                    <c:v>Outerwear</c:v>
                  </c:pt>
                </c:lvl>
              </c:multiLvlStrCache>
            </c:multiLvlStrRef>
          </c:cat>
          <c:val>
            <c:numRef>
              <c:f>Sheet1!$B$2:$B$5</c:f>
              <c:numCache>
                <c:formatCode>General</c:formatCode>
                <c:ptCount val="4"/>
                <c:pt idx="0">
                  <c:v>104.3</c:v>
                </c:pt>
                <c:pt idx="1">
                  <c:v>74.2</c:v>
                </c:pt>
                <c:pt idx="2">
                  <c:v>36.1</c:v>
                </c:pt>
                <c:pt idx="3">
                  <c:v>18.5</c:v>
                </c:pt>
              </c:numCache>
            </c:numRef>
          </c:val>
        </c:ser>
        <c:dLbls>
          <c:numFmt formatCode="0" sourceLinked="0"/>
          <c:txPr>
            <a:bodyPr/>
            <a:lstStyle/>
            <a:p>
              <a:pPr>
                <a:defRPr b="0" i="0" strike="noStrike" sz="1100" u="none">
                  <a:solidFill>
                    <a:srgbClr val="2B2B2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2B2B"/>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analyzes the shopping behavior of 3,900 customers to find what drives spending and how the business can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was cleaned in Python, stored in PostgreSQL, analyzed with SQL, and presented in Power BI. The dataset has one row per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Review Rating had missing values, 37 rows or under 1 percent. The age groups are quartiles: 18-31, 32-44, 45-57 and 58-70.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is $233,081 in total. Clothing is $104K and Accessories $74K. Customers spend a very similar amount whichever category they buy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headline answers from the 10 SQL queries. The main message: subscriptions and discounts are not increasing how much customers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has filters for subscription, gender, category and shipping type, five KPI cards, and charts for subscription split, revenue by category, shopping frequency, revenue by age group and 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differences between groups are small, so they should be tested for statistical significance before big decisions. Next steps: add date and cost data for trend and profit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B2420"/>
        </a:solidFill>
      </p:bgPr>
    </p:bg>
    <p:spTree>
      <p:nvGrpSpPr>
        <p:cNvPr id="1" name=""/>
        <p:cNvGrpSpPr/>
        <p:nvPr/>
      </p:nvGrpSpPr>
      <p:grpSpPr>
        <a:xfrm>
          <a:off x="0" y="0"/>
          <a:ext cx="0" cy="0"/>
          <a:chOff x="0" y="0"/>
          <a:chExt cx="0" cy="0"/>
        </a:xfrm>
      </p:grpSpPr>
      <p:sp>
        <p:nvSpPr>
          <p:cNvPr id="2" name="Text 0"/>
          <p:cNvSpPr txBox="1"/>
          <p:nvPr/>
        </p:nvSpPr>
        <p:spPr>
          <a:xfrm>
            <a:off x="640080" y="1371600"/>
            <a:ext cx="7863840" cy="1280160"/>
          </a:xfrm>
          <a:prstGeom prst="rect">
            <a:avLst/>
          </a:prstGeom>
          <a:noFill/>
          <a:ln/>
        </p:spPr>
        <p:txBody>
          <a:bodyPr wrap="square" lIns="0" tIns="0" rIns="0" bIns="0" rtlCol="0" anchor="b"/>
          <a:lstStyle/>
          <a:p>
            <a:pPr indent="0" marL="0">
              <a:buNone/>
            </a:pPr>
            <a:r>
              <a:rPr lang="en-US" sz="4000" b="1" dirty="0">
                <a:solidFill>
                  <a:srgbClr val="FFFFFF"/>
                </a:solidFill>
                <a:latin typeface="Georgia" pitchFamily="34" charset="0"/>
                <a:ea typeface="Georgia" pitchFamily="34" charset="-122"/>
                <a:cs typeface="Georgia" pitchFamily="34" charset="-120"/>
              </a:rPr>
              <a:t>Customer Shopping Behavior Analysis</a:t>
            </a:r>
            <a:endParaRPr lang="en-US" sz="4000" dirty="0"/>
          </a:p>
        </p:txBody>
      </p:sp>
      <p:sp>
        <p:nvSpPr>
          <p:cNvPr id="3" name="Text 1"/>
          <p:cNvSpPr txBox="1"/>
          <p:nvPr/>
        </p:nvSpPr>
        <p:spPr>
          <a:xfrm>
            <a:off x="640080" y="2834640"/>
            <a:ext cx="7863840" cy="548640"/>
          </a:xfrm>
          <a:prstGeom prst="rect">
            <a:avLst/>
          </a:prstGeom>
          <a:noFill/>
          <a:ln/>
        </p:spPr>
        <p:txBody>
          <a:bodyPr wrap="square" lIns="0" tIns="0" rIns="0" bIns="0" rtlCol="0" anchor="ctr"/>
          <a:lstStyle/>
          <a:p>
            <a:pPr indent="0" marL="0">
              <a:buNone/>
            </a:pPr>
            <a:r>
              <a:rPr lang="en-US" sz="1800" dirty="0">
                <a:solidFill>
                  <a:srgbClr val="F2D7D5"/>
                </a:solidFill>
                <a:latin typeface="Calibri" pitchFamily="34" charset="0"/>
                <a:ea typeface="Calibri" pitchFamily="34" charset="-122"/>
                <a:cs typeface="Calibri" pitchFamily="34" charset="-120"/>
              </a:rPr>
              <a:t>An end-to-end data analytics project using Python, PostgreSQL and Power BI</a:t>
            </a:r>
            <a:endParaRPr lang="en-US" sz="1800" dirty="0"/>
          </a:p>
        </p:txBody>
      </p:sp>
      <p:sp>
        <p:nvSpPr>
          <p:cNvPr id="4" name="Text 2"/>
          <p:cNvSpPr txBox="1"/>
          <p:nvPr/>
        </p:nvSpPr>
        <p:spPr>
          <a:xfrm>
            <a:off x="640080" y="4206240"/>
            <a:ext cx="3657600" cy="365760"/>
          </a:xfrm>
          <a:prstGeom prst="rect">
            <a:avLst/>
          </a:prstGeom>
          <a:noFill/>
          <a:ln/>
        </p:spPr>
        <p:txBody>
          <a:bodyPr wrap="square" lIns="0" tIns="0" rIns="0" bIns="0" rtlCol="0" anchor="ctr"/>
          <a:lstStyle/>
          <a:p>
            <a:pPr indent="0" marL="0">
              <a:buNone/>
            </a:pPr>
            <a:r>
              <a:rPr lang="en-US" sz="1400" dirty="0">
                <a:solidFill>
                  <a:srgbClr val="F2D7D5"/>
                </a:solidFill>
                <a:latin typeface="Calibri" pitchFamily="34" charset="0"/>
                <a:ea typeface="Calibri" pitchFamily="34" charset="-122"/>
                <a:cs typeface="Calibri" pitchFamily="34" charset="-120"/>
              </a:rPr>
              <a:t>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7B2420"/>
                </a:solidFill>
                <a:latin typeface="Georgia" pitchFamily="34" charset="0"/>
                <a:ea typeface="Georgia" pitchFamily="34" charset="-122"/>
                <a:cs typeface="Georgia" pitchFamily="34" charset="-120"/>
              </a:rPr>
              <a:t>Project Overview</a:t>
            </a:r>
            <a:endParaRPr lang="en-US" sz="2800" dirty="0"/>
          </a:p>
        </p:txBody>
      </p:sp>
      <p:sp>
        <p:nvSpPr>
          <p:cNvPr id="3" name="Text 1"/>
          <p:cNvSpPr txBox="1"/>
          <p:nvPr/>
        </p:nvSpPr>
        <p:spPr>
          <a:xfrm>
            <a:off x="457200" y="1097280"/>
            <a:ext cx="8229600" cy="822960"/>
          </a:xfrm>
          <a:prstGeom prst="rect">
            <a:avLst/>
          </a:prstGeom>
          <a:noFill/>
          <a:ln/>
        </p:spPr>
        <p:txBody>
          <a:bodyPr wrap="square" lIns="0" tIns="0" rIns="0" bIns="0" rtlCol="0" anchor="t"/>
          <a:lstStyle/>
          <a:p>
            <a:pPr indent="0" marL="0">
              <a:buNone/>
            </a:pPr>
            <a:r>
              <a:rPr lang="en-US" sz="1700" dirty="0">
                <a:solidFill>
                  <a:srgbClr val="2B2B2B"/>
                </a:solidFill>
                <a:latin typeface="Calibri" pitchFamily="34" charset="0"/>
                <a:ea typeface="Calibri" pitchFamily="34" charset="-122"/>
                <a:cs typeface="Calibri" pitchFamily="34" charset="-120"/>
              </a:rPr>
              <a:t>Goal: understand who our customers are, what they buy and what drives their spending, then turn it into clear business actions.</a:t>
            </a:r>
            <a:endParaRPr lang="en-US" sz="1700" dirty="0"/>
          </a:p>
        </p:txBody>
      </p:sp>
      <p:sp>
        <p:nvSpPr>
          <p:cNvPr id="4" name="Shape 2"/>
          <p:cNvSpPr/>
          <p:nvPr/>
        </p:nvSpPr>
        <p:spPr>
          <a:xfrm>
            <a:off x="457200" y="2194560"/>
            <a:ext cx="1828800" cy="1188720"/>
          </a:xfrm>
          <a:prstGeom prst="rect">
            <a:avLst/>
          </a:prstGeom>
          <a:solidFill>
            <a:srgbClr val="F7E4E2"/>
          </a:solidFill>
          <a:ln w="12700">
            <a:solidFill>
              <a:srgbClr val="F7E4E2"/>
            </a:solidFill>
            <a:prstDash val="solid"/>
          </a:ln>
        </p:spPr>
      </p:sp>
      <p:sp>
        <p:nvSpPr>
          <p:cNvPr id="5" name="Shape 3"/>
          <p:cNvSpPr/>
          <p:nvPr/>
        </p:nvSpPr>
        <p:spPr>
          <a:xfrm>
            <a:off x="457200" y="2194560"/>
            <a:ext cx="73152" cy="1188720"/>
          </a:xfrm>
          <a:prstGeom prst="rect">
            <a:avLst/>
          </a:prstGeom>
          <a:solidFill>
            <a:srgbClr val="7B2420"/>
          </a:solidFill>
          <a:ln w="12700">
            <a:solidFill>
              <a:srgbClr val="7B2420"/>
            </a:solidFill>
            <a:prstDash val="solid"/>
          </a:ln>
        </p:spPr>
      </p:sp>
      <p:sp>
        <p:nvSpPr>
          <p:cNvPr id="6" name="Text 4"/>
          <p:cNvSpPr txBox="1"/>
          <p:nvPr/>
        </p:nvSpPr>
        <p:spPr>
          <a:xfrm>
            <a:off x="640080" y="2286000"/>
            <a:ext cx="1554480" cy="457200"/>
          </a:xfrm>
          <a:prstGeom prst="rect">
            <a:avLst/>
          </a:prstGeom>
          <a:noFill/>
          <a:ln/>
        </p:spPr>
        <p:txBody>
          <a:bodyPr wrap="square" lIns="0" tIns="0" rIns="0" bIns="0" rtlCol="0" anchor="ctr"/>
          <a:lstStyle/>
          <a:p>
            <a:pPr indent="0" marL="0">
              <a:buNone/>
            </a:pPr>
            <a:r>
              <a:rPr lang="en-US" sz="1800" b="1" dirty="0">
                <a:solidFill>
                  <a:srgbClr val="7B2420"/>
                </a:solidFill>
                <a:latin typeface="Calibri" pitchFamily="34" charset="0"/>
                <a:ea typeface="Calibri" pitchFamily="34" charset="-122"/>
                <a:cs typeface="Calibri" pitchFamily="34" charset="-120"/>
              </a:rPr>
              <a:t>Python</a:t>
            </a:r>
            <a:endParaRPr lang="en-US" sz="1800" dirty="0"/>
          </a:p>
        </p:txBody>
      </p:sp>
      <p:sp>
        <p:nvSpPr>
          <p:cNvPr id="7" name="Text 5"/>
          <p:cNvSpPr txBox="1"/>
          <p:nvPr/>
        </p:nvSpPr>
        <p:spPr>
          <a:xfrm>
            <a:off x="640080" y="2743200"/>
            <a:ext cx="1554480" cy="54864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Clean and prepare data</a:t>
            </a:r>
            <a:endParaRPr lang="en-US" sz="1300" dirty="0"/>
          </a:p>
        </p:txBody>
      </p:sp>
      <p:sp>
        <p:nvSpPr>
          <p:cNvPr id="8" name="Text 6"/>
          <p:cNvSpPr txBox="1"/>
          <p:nvPr/>
        </p:nvSpPr>
        <p:spPr>
          <a:xfrm>
            <a:off x="2286000" y="2514600"/>
            <a:ext cx="320040" cy="457200"/>
          </a:xfrm>
          <a:prstGeom prst="rect">
            <a:avLst/>
          </a:prstGeom>
          <a:noFill/>
          <a:ln/>
        </p:spPr>
        <p:txBody>
          <a:bodyPr wrap="square" lIns="0" tIns="0" rIns="0" bIns="0" rtlCol="0" anchor="ctr"/>
          <a:lstStyle/>
          <a:p>
            <a:pPr algn="ctr" indent="0" marL="0">
              <a:buNone/>
            </a:pPr>
            <a:r>
              <a:rPr lang="en-US" sz="2000" b="1" dirty="0">
                <a:solidFill>
                  <a:srgbClr val="7B2420"/>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2606040" y="2194560"/>
            <a:ext cx="1828800" cy="1188720"/>
          </a:xfrm>
          <a:prstGeom prst="rect">
            <a:avLst/>
          </a:prstGeom>
          <a:solidFill>
            <a:srgbClr val="F7E4E2"/>
          </a:solidFill>
          <a:ln w="12700">
            <a:solidFill>
              <a:srgbClr val="F7E4E2"/>
            </a:solidFill>
            <a:prstDash val="solid"/>
          </a:ln>
        </p:spPr>
      </p:sp>
      <p:sp>
        <p:nvSpPr>
          <p:cNvPr id="10" name="Shape 8"/>
          <p:cNvSpPr/>
          <p:nvPr/>
        </p:nvSpPr>
        <p:spPr>
          <a:xfrm>
            <a:off x="2606040" y="2194560"/>
            <a:ext cx="73152" cy="1188720"/>
          </a:xfrm>
          <a:prstGeom prst="rect">
            <a:avLst/>
          </a:prstGeom>
          <a:solidFill>
            <a:srgbClr val="7B2420"/>
          </a:solidFill>
          <a:ln w="12700">
            <a:solidFill>
              <a:srgbClr val="7B2420"/>
            </a:solidFill>
            <a:prstDash val="solid"/>
          </a:ln>
        </p:spPr>
      </p:sp>
      <p:sp>
        <p:nvSpPr>
          <p:cNvPr id="11" name="Text 9"/>
          <p:cNvSpPr txBox="1"/>
          <p:nvPr/>
        </p:nvSpPr>
        <p:spPr>
          <a:xfrm>
            <a:off x="2788920" y="2286000"/>
            <a:ext cx="1554480" cy="457200"/>
          </a:xfrm>
          <a:prstGeom prst="rect">
            <a:avLst/>
          </a:prstGeom>
          <a:noFill/>
          <a:ln/>
        </p:spPr>
        <p:txBody>
          <a:bodyPr wrap="square" lIns="0" tIns="0" rIns="0" bIns="0" rtlCol="0" anchor="ctr"/>
          <a:lstStyle/>
          <a:p>
            <a:pPr indent="0" marL="0">
              <a:buNone/>
            </a:pPr>
            <a:r>
              <a:rPr lang="en-US" sz="1800" b="1" dirty="0">
                <a:solidFill>
                  <a:srgbClr val="7B2420"/>
                </a:solidFill>
                <a:latin typeface="Calibri" pitchFamily="34" charset="0"/>
                <a:ea typeface="Calibri" pitchFamily="34" charset="-122"/>
                <a:cs typeface="Calibri" pitchFamily="34" charset="-120"/>
              </a:rPr>
              <a:t>PostgreSQL</a:t>
            </a:r>
            <a:endParaRPr lang="en-US" sz="1800" dirty="0"/>
          </a:p>
        </p:txBody>
      </p:sp>
      <p:sp>
        <p:nvSpPr>
          <p:cNvPr id="12" name="Text 10"/>
          <p:cNvSpPr txBox="1"/>
          <p:nvPr/>
        </p:nvSpPr>
        <p:spPr>
          <a:xfrm>
            <a:off x="2788920" y="2743200"/>
            <a:ext cx="1554480" cy="54864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Store the data</a:t>
            </a:r>
            <a:endParaRPr lang="en-US" sz="1300" dirty="0"/>
          </a:p>
        </p:txBody>
      </p:sp>
      <p:sp>
        <p:nvSpPr>
          <p:cNvPr id="13" name="Text 11"/>
          <p:cNvSpPr txBox="1"/>
          <p:nvPr/>
        </p:nvSpPr>
        <p:spPr>
          <a:xfrm>
            <a:off x="4434840" y="2514600"/>
            <a:ext cx="320040" cy="457200"/>
          </a:xfrm>
          <a:prstGeom prst="rect">
            <a:avLst/>
          </a:prstGeom>
          <a:noFill/>
          <a:ln/>
        </p:spPr>
        <p:txBody>
          <a:bodyPr wrap="square" lIns="0" tIns="0" rIns="0" bIns="0" rtlCol="0" anchor="ctr"/>
          <a:lstStyle/>
          <a:p>
            <a:pPr algn="ctr" indent="0" marL="0">
              <a:buNone/>
            </a:pPr>
            <a:r>
              <a:rPr lang="en-US" sz="2000" b="1" dirty="0">
                <a:solidFill>
                  <a:srgbClr val="7B2420"/>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4754880" y="2194560"/>
            <a:ext cx="1828800" cy="1188720"/>
          </a:xfrm>
          <a:prstGeom prst="rect">
            <a:avLst/>
          </a:prstGeom>
          <a:solidFill>
            <a:srgbClr val="F7E4E2"/>
          </a:solidFill>
          <a:ln w="12700">
            <a:solidFill>
              <a:srgbClr val="F7E4E2"/>
            </a:solidFill>
            <a:prstDash val="solid"/>
          </a:ln>
        </p:spPr>
      </p:sp>
      <p:sp>
        <p:nvSpPr>
          <p:cNvPr id="15" name="Shape 13"/>
          <p:cNvSpPr/>
          <p:nvPr/>
        </p:nvSpPr>
        <p:spPr>
          <a:xfrm>
            <a:off x="4754880" y="2194560"/>
            <a:ext cx="73152" cy="1188720"/>
          </a:xfrm>
          <a:prstGeom prst="rect">
            <a:avLst/>
          </a:prstGeom>
          <a:solidFill>
            <a:srgbClr val="7B2420"/>
          </a:solidFill>
          <a:ln w="12700">
            <a:solidFill>
              <a:srgbClr val="7B2420"/>
            </a:solidFill>
            <a:prstDash val="solid"/>
          </a:ln>
        </p:spPr>
      </p:sp>
      <p:sp>
        <p:nvSpPr>
          <p:cNvPr id="16" name="Text 14"/>
          <p:cNvSpPr txBox="1"/>
          <p:nvPr/>
        </p:nvSpPr>
        <p:spPr>
          <a:xfrm>
            <a:off x="4937760" y="2286000"/>
            <a:ext cx="1554480" cy="457200"/>
          </a:xfrm>
          <a:prstGeom prst="rect">
            <a:avLst/>
          </a:prstGeom>
          <a:noFill/>
          <a:ln/>
        </p:spPr>
        <p:txBody>
          <a:bodyPr wrap="square" lIns="0" tIns="0" rIns="0" bIns="0" rtlCol="0" anchor="ctr"/>
          <a:lstStyle/>
          <a:p>
            <a:pPr indent="0" marL="0">
              <a:buNone/>
            </a:pPr>
            <a:r>
              <a:rPr lang="en-US" sz="1800" b="1" dirty="0">
                <a:solidFill>
                  <a:srgbClr val="7B2420"/>
                </a:solidFill>
                <a:latin typeface="Calibri" pitchFamily="34" charset="0"/>
                <a:ea typeface="Calibri" pitchFamily="34" charset="-122"/>
                <a:cs typeface="Calibri" pitchFamily="34" charset="-120"/>
              </a:rPr>
              <a:t>SQL</a:t>
            </a:r>
            <a:endParaRPr lang="en-US" sz="1800" dirty="0"/>
          </a:p>
        </p:txBody>
      </p:sp>
      <p:sp>
        <p:nvSpPr>
          <p:cNvPr id="17" name="Text 15"/>
          <p:cNvSpPr txBox="1"/>
          <p:nvPr/>
        </p:nvSpPr>
        <p:spPr>
          <a:xfrm>
            <a:off x="4937760" y="2743200"/>
            <a:ext cx="1554480" cy="54864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Answer 10 business questions</a:t>
            </a:r>
            <a:endParaRPr lang="en-US" sz="1300" dirty="0"/>
          </a:p>
        </p:txBody>
      </p:sp>
      <p:sp>
        <p:nvSpPr>
          <p:cNvPr id="18" name="Text 16"/>
          <p:cNvSpPr txBox="1"/>
          <p:nvPr/>
        </p:nvSpPr>
        <p:spPr>
          <a:xfrm>
            <a:off x="6583680" y="2514600"/>
            <a:ext cx="320040" cy="457200"/>
          </a:xfrm>
          <a:prstGeom prst="rect">
            <a:avLst/>
          </a:prstGeom>
          <a:noFill/>
          <a:ln/>
        </p:spPr>
        <p:txBody>
          <a:bodyPr wrap="square" lIns="0" tIns="0" rIns="0" bIns="0" rtlCol="0" anchor="ctr"/>
          <a:lstStyle/>
          <a:p>
            <a:pPr algn="ctr" indent="0" marL="0">
              <a:buNone/>
            </a:pPr>
            <a:r>
              <a:rPr lang="en-US" sz="2000" b="1" dirty="0">
                <a:solidFill>
                  <a:srgbClr val="7B2420"/>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6903720" y="2194560"/>
            <a:ext cx="1828800" cy="1188720"/>
          </a:xfrm>
          <a:prstGeom prst="rect">
            <a:avLst/>
          </a:prstGeom>
          <a:solidFill>
            <a:srgbClr val="F7E4E2"/>
          </a:solidFill>
          <a:ln w="12700">
            <a:solidFill>
              <a:srgbClr val="F7E4E2"/>
            </a:solidFill>
            <a:prstDash val="solid"/>
          </a:ln>
        </p:spPr>
      </p:sp>
      <p:sp>
        <p:nvSpPr>
          <p:cNvPr id="20" name="Shape 18"/>
          <p:cNvSpPr/>
          <p:nvPr/>
        </p:nvSpPr>
        <p:spPr>
          <a:xfrm>
            <a:off x="6903720" y="2194560"/>
            <a:ext cx="73152" cy="1188720"/>
          </a:xfrm>
          <a:prstGeom prst="rect">
            <a:avLst/>
          </a:prstGeom>
          <a:solidFill>
            <a:srgbClr val="7B2420"/>
          </a:solidFill>
          <a:ln w="12700">
            <a:solidFill>
              <a:srgbClr val="7B2420"/>
            </a:solidFill>
            <a:prstDash val="solid"/>
          </a:ln>
        </p:spPr>
      </p:sp>
      <p:sp>
        <p:nvSpPr>
          <p:cNvPr id="21" name="Text 19"/>
          <p:cNvSpPr txBox="1"/>
          <p:nvPr/>
        </p:nvSpPr>
        <p:spPr>
          <a:xfrm>
            <a:off x="7086600" y="2286000"/>
            <a:ext cx="1554480" cy="457200"/>
          </a:xfrm>
          <a:prstGeom prst="rect">
            <a:avLst/>
          </a:prstGeom>
          <a:noFill/>
          <a:ln/>
        </p:spPr>
        <p:txBody>
          <a:bodyPr wrap="square" lIns="0" tIns="0" rIns="0" bIns="0" rtlCol="0" anchor="ctr"/>
          <a:lstStyle/>
          <a:p>
            <a:pPr indent="0" marL="0">
              <a:buNone/>
            </a:pPr>
            <a:r>
              <a:rPr lang="en-US" sz="1800" b="1" dirty="0">
                <a:solidFill>
                  <a:srgbClr val="7B2420"/>
                </a:solidFill>
                <a:latin typeface="Calibri" pitchFamily="34" charset="0"/>
                <a:ea typeface="Calibri" pitchFamily="34" charset="-122"/>
                <a:cs typeface="Calibri" pitchFamily="34" charset="-120"/>
              </a:rPr>
              <a:t>Power BI</a:t>
            </a:r>
            <a:endParaRPr lang="en-US" sz="1800" dirty="0"/>
          </a:p>
        </p:txBody>
      </p:sp>
      <p:sp>
        <p:nvSpPr>
          <p:cNvPr id="22" name="Text 20"/>
          <p:cNvSpPr txBox="1"/>
          <p:nvPr/>
        </p:nvSpPr>
        <p:spPr>
          <a:xfrm>
            <a:off x="7086600" y="2743200"/>
            <a:ext cx="1554480" cy="54864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Build the dashboard</a:t>
            </a:r>
            <a:endParaRPr lang="en-US" sz="1300" dirty="0"/>
          </a:p>
        </p:txBody>
      </p:sp>
      <p:sp>
        <p:nvSpPr>
          <p:cNvPr id="23" name="Shape 21"/>
          <p:cNvSpPr/>
          <p:nvPr/>
        </p:nvSpPr>
        <p:spPr>
          <a:xfrm>
            <a:off x="457200" y="3749040"/>
            <a:ext cx="8229600" cy="914400"/>
          </a:xfrm>
          <a:prstGeom prst="rect">
            <a:avLst/>
          </a:prstGeom>
          <a:solidFill>
            <a:srgbClr val="7B2420"/>
          </a:solidFill>
          <a:ln w="12700">
            <a:solidFill>
              <a:srgbClr val="7B2420"/>
            </a:solidFill>
            <a:prstDash val="solid"/>
          </a:ln>
        </p:spPr>
      </p:sp>
      <p:sp>
        <p:nvSpPr>
          <p:cNvPr id="24" name="Text 22"/>
          <p:cNvSpPr txBox="1"/>
          <p:nvPr/>
        </p:nvSpPr>
        <p:spPr>
          <a:xfrm>
            <a:off x="640080" y="3749040"/>
            <a:ext cx="786384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3,900 customers   |   18 data columns   |   25 products in 4 categories   |   50 US states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7B2420"/>
                </a:solidFill>
                <a:latin typeface="Georgia" pitchFamily="34" charset="0"/>
                <a:ea typeface="Georgia" pitchFamily="34" charset="-122"/>
                <a:cs typeface="Georgia" pitchFamily="34" charset="-120"/>
              </a:rPr>
              <a:t>Data Cleaning and Preparation</a:t>
            </a:r>
            <a:endParaRPr lang="en-US" sz="2800" dirty="0"/>
          </a:p>
        </p:txBody>
      </p:sp>
      <p:sp>
        <p:nvSpPr>
          <p:cNvPr id="3" name="Shape 1"/>
          <p:cNvSpPr/>
          <p:nvPr/>
        </p:nvSpPr>
        <p:spPr>
          <a:xfrm>
            <a:off x="457200" y="1097280"/>
            <a:ext cx="457200" cy="457200"/>
          </a:xfrm>
          <a:prstGeom prst="ellipse">
            <a:avLst/>
          </a:prstGeom>
          <a:solidFill>
            <a:srgbClr val="7B2420"/>
          </a:solidFill>
          <a:ln w="12700">
            <a:solidFill>
              <a:srgbClr val="7B2420"/>
            </a:solidFill>
            <a:prstDash val="solid"/>
          </a:ln>
        </p:spPr>
      </p:sp>
      <p:sp>
        <p:nvSpPr>
          <p:cNvPr id="4" name="Text 2"/>
          <p:cNvSpPr txBox="1"/>
          <p:nvPr/>
        </p:nvSpPr>
        <p:spPr>
          <a:xfrm>
            <a:off x="457200" y="1097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097280" y="1005840"/>
            <a:ext cx="7589520" cy="640080"/>
          </a:xfrm>
          <a:prstGeom prst="rect">
            <a:avLst/>
          </a:prstGeom>
          <a:noFill/>
          <a:ln/>
        </p:spPr>
        <p:txBody>
          <a:bodyPr wrap="square" lIns="0" tIns="0" rIns="0" bIns="0" rtlCol="0" anchor="ctr"/>
          <a:lstStyle/>
          <a:p>
            <a:pPr indent="0" marL="0">
              <a:buNone/>
            </a:pPr>
            <a:r>
              <a:rPr lang="en-US" sz="1500" b="1" dirty="0">
                <a:solidFill>
                  <a:srgbClr val="7B2420"/>
                </a:solidFill>
                <a:latin typeface="Calibri" pitchFamily="34" charset="0"/>
                <a:ea typeface="Calibri" pitchFamily="34" charset="-122"/>
                <a:cs typeface="Calibri" pitchFamily="34" charset="-120"/>
              </a:rPr>
              <a:t>Checked the data: </a:t>
            </a:r>
            <a:pPr indent="0" marL="0">
              <a:buNone/>
            </a:pPr>
            <a:r>
              <a:rPr lang="en-US" sz="1500" dirty="0">
                <a:solidFill>
                  <a:srgbClr val="2B2B2B"/>
                </a:solidFill>
                <a:latin typeface="Calibri" pitchFamily="34" charset="0"/>
                <a:ea typeface="Calibri" pitchFamily="34" charset="-122"/>
                <a:cs typeface="Calibri" pitchFamily="34" charset="-120"/>
              </a:rPr>
              <a:t>structure, data types and missing values</a:t>
            </a:r>
            <a:endParaRPr lang="en-US" sz="1500" dirty="0"/>
          </a:p>
        </p:txBody>
      </p:sp>
      <p:sp>
        <p:nvSpPr>
          <p:cNvPr id="6" name="Shape 4"/>
          <p:cNvSpPr/>
          <p:nvPr/>
        </p:nvSpPr>
        <p:spPr>
          <a:xfrm>
            <a:off x="457200" y="1828800"/>
            <a:ext cx="457200" cy="457200"/>
          </a:xfrm>
          <a:prstGeom prst="ellipse">
            <a:avLst/>
          </a:prstGeom>
          <a:solidFill>
            <a:srgbClr val="7B2420"/>
          </a:solidFill>
          <a:ln w="12700">
            <a:solidFill>
              <a:srgbClr val="7B2420"/>
            </a:solidFill>
            <a:prstDash val="solid"/>
          </a:ln>
        </p:spPr>
      </p:sp>
      <p:sp>
        <p:nvSpPr>
          <p:cNvPr id="7" name="Text 5"/>
          <p:cNvSpPr txBox="1"/>
          <p:nvPr/>
        </p:nvSpPr>
        <p:spPr>
          <a:xfrm>
            <a:off x="45720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txBox="1"/>
          <p:nvPr/>
        </p:nvSpPr>
        <p:spPr>
          <a:xfrm>
            <a:off x="1097280" y="1737360"/>
            <a:ext cx="7589520" cy="640080"/>
          </a:xfrm>
          <a:prstGeom prst="rect">
            <a:avLst/>
          </a:prstGeom>
          <a:noFill/>
          <a:ln/>
        </p:spPr>
        <p:txBody>
          <a:bodyPr wrap="square" lIns="0" tIns="0" rIns="0" bIns="0" rtlCol="0" anchor="ctr"/>
          <a:lstStyle/>
          <a:p>
            <a:pPr indent="0" marL="0">
              <a:buNone/>
            </a:pPr>
            <a:r>
              <a:rPr lang="en-US" sz="1500" b="1" dirty="0">
                <a:solidFill>
                  <a:srgbClr val="7B2420"/>
                </a:solidFill>
                <a:latin typeface="Calibri" pitchFamily="34" charset="0"/>
                <a:ea typeface="Calibri" pitchFamily="34" charset="-122"/>
                <a:cs typeface="Calibri" pitchFamily="34" charset="-120"/>
              </a:rPr>
              <a:t>Fixed 37 missing ratings: </a:t>
            </a:r>
            <a:pPr indent="0" marL="0">
              <a:buNone/>
            </a:pPr>
            <a:r>
              <a:rPr lang="en-US" sz="1500" dirty="0">
                <a:solidFill>
                  <a:srgbClr val="2B2B2B"/>
                </a:solidFill>
                <a:latin typeface="Calibri" pitchFamily="34" charset="0"/>
                <a:ea typeface="Calibri" pitchFamily="34" charset="-122"/>
                <a:cs typeface="Calibri" pitchFamily="34" charset="-120"/>
              </a:rPr>
              <a:t>filled with the median rating of each category</a:t>
            </a:r>
            <a:endParaRPr lang="en-US" sz="1500" dirty="0"/>
          </a:p>
        </p:txBody>
      </p:sp>
      <p:sp>
        <p:nvSpPr>
          <p:cNvPr id="9" name="Shape 7"/>
          <p:cNvSpPr/>
          <p:nvPr/>
        </p:nvSpPr>
        <p:spPr>
          <a:xfrm>
            <a:off x="457200" y="2560320"/>
            <a:ext cx="457200" cy="457200"/>
          </a:xfrm>
          <a:prstGeom prst="ellipse">
            <a:avLst/>
          </a:prstGeom>
          <a:solidFill>
            <a:srgbClr val="7B2420"/>
          </a:solidFill>
          <a:ln w="12700">
            <a:solidFill>
              <a:srgbClr val="7B2420"/>
            </a:solidFill>
            <a:prstDash val="solid"/>
          </a:ln>
        </p:spPr>
      </p:sp>
      <p:sp>
        <p:nvSpPr>
          <p:cNvPr id="10"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txBox="1"/>
          <p:nvPr/>
        </p:nvSpPr>
        <p:spPr>
          <a:xfrm>
            <a:off x="1097280" y="2468880"/>
            <a:ext cx="7589520" cy="640080"/>
          </a:xfrm>
          <a:prstGeom prst="rect">
            <a:avLst/>
          </a:prstGeom>
          <a:noFill/>
          <a:ln/>
        </p:spPr>
        <p:txBody>
          <a:bodyPr wrap="square" lIns="0" tIns="0" rIns="0" bIns="0" rtlCol="0" anchor="ctr"/>
          <a:lstStyle/>
          <a:p>
            <a:pPr indent="0" marL="0">
              <a:buNone/>
            </a:pPr>
            <a:r>
              <a:rPr lang="en-US" sz="1500" b="1" dirty="0">
                <a:solidFill>
                  <a:srgbClr val="7B2420"/>
                </a:solidFill>
                <a:latin typeface="Calibri" pitchFamily="34" charset="0"/>
                <a:ea typeface="Calibri" pitchFamily="34" charset="-122"/>
                <a:cs typeface="Calibri" pitchFamily="34" charset="-120"/>
              </a:rPr>
              <a:t>Renamed columns: </a:t>
            </a:r>
            <a:pPr indent="0" marL="0">
              <a:buNone/>
            </a:pPr>
            <a:r>
              <a:rPr lang="en-US" sz="1500" dirty="0">
                <a:solidFill>
                  <a:srgbClr val="2B2B2B"/>
                </a:solidFill>
                <a:latin typeface="Calibri" pitchFamily="34" charset="0"/>
                <a:ea typeface="Calibri" pitchFamily="34" charset="-122"/>
                <a:cs typeface="Calibri" pitchFamily="34" charset="-120"/>
              </a:rPr>
              <a:t>snake_case names to make SQL easier</a:t>
            </a:r>
            <a:endParaRPr lang="en-US" sz="1500" dirty="0"/>
          </a:p>
        </p:txBody>
      </p:sp>
      <p:sp>
        <p:nvSpPr>
          <p:cNvPr id="12" name="Shape 10"/>
          <p:cNvSpPr/>
          <p:nvPr/>
        </p:nvSpPr>
        <p:spPr>
          <a:xfrm>
            <a:off x="457200" y="3291840"/>
            <a:ext cx="457200" cy="457200"/>
          </a:xfrm>
          <a:prstGeom prst="ellipse">
            <a:avLst/>
          </a:prstGeom>
          <a:solidFill>
            <a:srgbClr val="7B2420"/>
          </a:solidFill>
          <a:ln w="12700">
            <a:solidFill>
              <a:srgbClr val="7B2420"/>
            </a:solidFill>
            <a:prstDash val="solid"/>
          </a:ln>
        </p:spPr>
      </p:sp>
      <p:sp>
        <p:nvSpPr>
          <p:cNvPr id="13" name="Text 11"/>
          <p:cNvSpPr txBox="1"/>
          <p:nvPr/>
        </p:nvSpPr>
        <p:spPr>
          <a:xfrm>
            <a:off x="457200" y="3291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txBox="1"/>
          <p:nvPr/>
        </p:nvSpPr>
        <p:spPr>
          <a:xfrm>
            <a:off x="1097280" y="3200400"/>
            <a:ext cx="7589520" cy="640080"/>
          </a:xfrm>
          <a:prstGeom prst="rect">
            <a:avLst/>
          </a:prstGeom>
          <a:noFill/>
          <a:ln/>
        </p:spPr>
        <p:txBody>
          <a:bodyPr wrap="square" lIns="0" tIns="0" rIns="0" bIns="0" rtlCol="0" anchor="ctr"/>
          <a:lstStyle/>
          <a:p>
            <a:pPr indent="0" marL="0">
              <a:buNone/>
            </a:pPr>
            <a:r>
              <a:rPr lang="en-US" sz="1500" b="1" dirty="0">
                <a:solidFill>
                  <a:srgbClr val="7B2420"/>
                </a:solidFill>
                <a:latin typeface="Calibri" pitchFamily="34" charset="0"/>
                <a:ea typeface="Calibri" pitchFamily="34" charset="-122"/>
                <a:cs typeface="Calibri" pitchFamily="34" charset="-120"/>
              </a:rPr>
              <a:t>Created new columns: </a:t>
            </a:r>
            <a:pPr indent="0" marL="0">
              <a:buNone/>
            </a:pPr>
            <a:r>
              <a:rPr lang="en-US" sz="1500" dirty="0">
                <a:solidFill>
                  <a:srgbClr val="2B2B2B"/>
                </a:solidFill>
                <a:latin typeface="Calibri" pitchFamily="34" charset="0"/>
                <a:ea typeface="Calibri" pitchFamily="34" charset="-122"/>
                <a:cs typeface="Calibri" pitchFamily="34" charset="-120"/>
              </a:rPr>
              <a:t>age_group and purchase_frequency_days</a:t>
            </a:r>
            <a:endParaRPr lang="en-US" sz="1500" dirty="0"/>
          </a:p>
        </p:txBody>
      </p:sp>
      <p:sp>
        <p:nvSpPr>
          <p:cNvPr id="15" name="Shape 13"/>
          <p:cNvSpPr/>
          <p:nvPr/>
        </p:nvSpPr>
        <p:spPr>
          <a:xfrm>
            <a:off x="457200" y="4023360"/>
            <a:ext cx="457200" cy="457200"/>
          </a:xfrm>
          <a:prstGeom prst="ellipse">
            <a:avLst/>
          </a:prstGeom>
          <a:solidFill>
            <a:srgbClr val="7B2420"/>
          </a:solidFill>
          <a:ln w="12700">
            <a:solidFill>
              <a:srgbClr val="7B2420"/>
            </a:solidFill>
            <a:prstDash val="solid"/>
          </a:ln>
        </p:spPr>
      </p:sp>
      <p:sp>
        <p:nvSpPr>
          <p:cNvPr id="16" name="Text 14"/>
          <p:cNvSpPr txBox="1"/>
          <p:nvPr/>
        </p:nvSpPr>
        <p:spPr>
          <a:xfrm>
            <a:off x="457200" y="4023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7" name="Text 15"/>
          <p:cNvSpPr txBox="1"/>
          <p:nvPr/>
        </p:nvSpPr>
        <p:spPr>
          <a:xfrm>
            <a:off x="1097280" y="3931920"/>
            <a:ext cx="7589520" cy="640080"/>
          </a:xfrm>
          <a:prstGeom prst="rect">
            <a:avLst/>
          </a:prstGeom>
          <a:noFill/>
          <a:ln/>
        </p:spPr>
        <p:txBody>
          <a:bodyPr wrap="square" lIns="0" tIns="0" rIns="0" bIns="0" rtlCol="0" anchor="ctr"/>
          <a:lstStyle/>
          <a:p>
            <a:pPr indent="0" marL="0">
              <a:buNone/>
            </a:pPr>
            <a:r>
              <a:rPr lang="en-US" sz="1500" b="1" dirty="0">
                <a:solidFill>
                  <a:srgbClr val="7B2420"/>
                </a:solidFill>
                <a:latin typeface="Calibri" pitchFamily="34" charset="0"/>
                <a:ea typeface="Calibri" pitchFamily="34" charset="-122"/>
                <a:cs typeface="Calibri" pitchFamily="34" charset="-120"/>
              </a:rPr>
              <a:t>Removed a duplicate column: </a:t>
            </a:r>
            <a:pPr indent="0" marL="0">
              <a:buNone/>
            </a:pPr>
            <a:r>
              <a:rPr lang="en-US" sz="1500" dirty="0">
                <a:solidFill>
                  <a:srgbClr val="2B2B2B"/>
                </a:solidFill>
                <a:latin typeface="Calibri" pitchFamily="34" charset="0"/>
                <a:ea typeface="Calibri" pitchFamily="34" charset="-122"/>
                <a:cs typeface="Calibri" pitchFamily="34" charset="-120"/>
              </a:rPr>
              <a:t>promo_code_used was identical to discount_applied, then loaded the data into PostgreSQL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7B2420"/>
                </a:solidFill>
                <a:latin typeface="Georgia" pitchFamily="34" charset="0"/>
                <a:ea typeface="Georgia" pitchFamily="34" charset="-122"/>
                <a:cs typeface="Georgia" pitchFamily="34" charset="-120"/>
              </a:rPr>
              <a:t>The Business at a Glance</a:t>
            </a:r>
            <a:endParaRPr lang="en-US" sz="2800" dirty="0"/>
          </a:p>
        </p:txBody>
      </p:sp>
      <p:sp>
        <p:nvSpPr>
          <p:cNvPr id="3" name="Shape 1"/>
          <p:cNvSpPr/>
          <p:nvPr/>
        </p:nvSpPr>
        <p:spPr>
          <a:xfrm>
            <a:off x="457200" y="1051560"/>
            <a:ext cx="1920240" cy="1005840"/>
          </a:xfrm>
          <a:prstGeom prst="rect">
            <a:avLst/>
          </a:prstGeom>
          <a:solidFill>
            <a:srgbClr val="F7E4E2"/>
          </a:solidFill>
          <a:ln w="12700">
            <a:solidFill>
              <a:srgbClr val="F7E4E2"/>
            </a:solidFill>
            <a:prstDash val="solid"/>
          </a:ln>
        </p:spPr>
      </p:sp>
      <p:sp>
        <p:nvSpPr>
          <p:cNvPr id="4" name="Shape 2"/>
          <p:cNvSpPr/>
          <p:nvPr/>
        </p:nvSpPr>
        <p:spPr>
          <a:xfrm>
            <a:off x="457200" y="1051560"/>
            <a:ext cx="73152" cy="1005840"/>
          </a:xfrm>
          <a:prstGeom prst="rect">
            <a:avLst/>
          </a:prstGeom>
          <a:solidFill>
            <a:srgbClr val="7B2420"/>
          </a:solidFill>
          <a:ln w="12700">
            <a:solidFill>
              <a:srgbClr val="7B2420"/>
            </a:solidFill>
            <a:prstDash val="solid"/>
          </a:ln>
        </p:spPr>
      </p:sp>
      <p:sp>
        <p:nvSpPr>
          <p:cNvPr id="5" name="Text 3"/>
          <p:cNvSpPr txBox="1"/>
          <p:nvPr/>
        </p:nvSpPr>
        <p:spPr>
          <a:xfrm>
            <a:off x="640080" y="1097280"/>
            <a:ext cx="1645920" cy="548640"/>
          </a:xfrm>
          <a:prstGeom prst="rect">
            <a:avLst/>
          </a:prstGeom>
          <a:noFill/>
          <a:ln/>
        </p:spPr>
        <p:txBody>
          <a:bodyPr wrap="square" lIns="0" tIns="0" rIns="0" bIns="0" rtlCol="0" anchor="ctr"/>
          <a:lstStyle/>
          <a:p>
            <a:pPr indent="0" marL="0">
              <a:buNone/>
            </a:pPr>
            <a:r>
              <a:rPr lang="en-US" sz="2400" b="1" dirty="0">
                <a:solidFill>
                  <a:srgbClr val="7B2420"/>
                </a:solidFill>
                <a:latin typeface="Georgia" pitchFamily="34" charset="0"/>
                <a:ea typeface="Georgia" pitchFamily="34" charset="-122"/>
                <a:cs typeface="Georgia" pitchFamily="34" charset="-120"/>
              </a:rPr>
              <a:t>$233K</a:t>
            </a:r>
            <a:endParaRPr lang="en-US" sz="2400" dirty="0"/>
          </a:p>
        </p:txBody>
      </p:sp>
      <p:sp>
        <p:nvSpPr>
          <p:cNvPr id="6" name="Text 4"/>
          <p:cNvSpPr txBox="1"/>
          <p:nvPr/>
        </p:nvSpPr>
        <p:spPr>
          <a:xfrm>
            <a:off x="640080" y="1645920"/>
            <a:ext cx="1645920" cy="320040"/>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Total revenue</a:t>
            </a:r>
            <a:endParaRPr lang="en-US" sz="1200" dirty="0"/>
          </a:p>
        </p:txBody>
      </p:sp>
      <p:sp>
        <p:nvSpPr>
          <p:cNvPr id="7" name="Shape 5"/>
          <p:cNvSpPr/>
          <p:nvPr/>
        </p:nvSpPr>
        <p:spPr>
          <a:xfrm>
            <a:off x="2560320" y="1051560"/>
            <a:ext cx="1920240" cy="1005840"/>
          </a:xfrm>
          <a:prstGeom prst="rect">
            <a:avLst/>
          </a:prstGeom>
          <a:solidFill>
            <a:srgbClr val="F7E4E2"/>
          </a:solidFill>
          <a:ln w="12700">
            <a:solidFill>
              <a:srgbClr val="F7E4E2"/>
            </a:solidFill>
            <a:prstDash val="solid"/>
          </a:ln>
        </p:spPr>
      </p:sp>
      <p:sp>
        <p:nvSpPr>
          <p:cNvPr id="8" name="Shape 6"/>
          <p:cNvSpPr/>
          <p:nvPr/>
        </p:nvSpPr>
        <p:spPr>
          <a:xfrm>
            <a:off x="2560320" y="1051560"/>
            <a:ext cx="73152" cy="1005840"/>
          </a:xfrm>
          <a:prstGeom prst="rect">
            <a:avLst/>
          </a:prstGeom>
          <a:solidFill>
            <a:srgbClr val="7B2420"/>
          </a:solidFill>
          <a:ln w="12700">
            <a:solidFill>
              <a:srgbClr val="7B2420"/>
            </a:solidFill>
            <a:prstDash val="solid"/>
          </a:ln>
        </p:spPr>
      </p:sp>
      <p:sp>
        <p:nvSpPr>
          <p:cNvPr id="9" name="Text 7"/>
          <p:cNvSpPr txBox="1"/>
          <p:nvPr/>
        </p:nvSpPr>
        <p:spPr>
          <a:xfrm>
            <a:off x="2743200" y="1097280"/>
            <a:ext cx="1645920" cy="548640"/>
          </a:xfrm>
          <a:prstGeom prst="rect">
            <a:avLst/>
          </a:prstGeom>
          <a:noFill/>
          <a:ln/>
        </p:spPr>
        <p:txBody>
          <a:bodyPr wrap="square" lIns="0" tIns="0" rIns="0" bIns="0" rtlCol="0" anchor="ctr"/>
          <a:lstStyle/>
          <a:p>
            <a:pPr indent="0" marL="0">
              <a:buNone/>
            </a:pPr>
            <a:r>
              <a:rPr lang="en-US" sz="2400" b="1" dirty="0">
                <a:solidFill>
                  <a:srgbClr val="7B2420"/>
                </a:solidFill>
                <a:latin typeface="Georgia" pitchFamily="34" charset="0"/>
                <a:ea typeface="Georgia" pitchFamily="34" charset="-122"/>
                <a:cs typeface="Georgia" pitchFamily="34" charset="-120"/>
              </a:rPr>
              <a:t>3,900</a:t>
            </a:r>
            <a:endParaRPr lang="en-US" sz="2400" dirty="0"/>
          </a:p>
        </p:txBody>
      </p:sp>
      <p:sp>
        <p:nvSpPr>
          <p:cNvPr id="10" name="Text 8"/>
          <p:cNvSpPr txBox="1"/>
          <p:nvPr/>
        </p:nvSpPr>
        <p:spPr>
          <a:xfrm>
            <a:off x="2743200" y="1645920"/>
            <a:ext cx="1645920" cy="320040"/>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Customers</a:t>
            </a:r>
            <a:endParaRPr lang="en-US" sz="1200" dirty="0"/>
          </a:p>
        </p:txBody>
      </p:sp>
      <p:sp>
        <p:nvSpPr>
          <p:cNvPr id="11" name="Shape 9"/>
          <p:cNvSpPr/>
          <p:nvPr/>
        </p:nvSpPr>
        <p:spPr>
          <a:xfrm>
            <a:off x="4663440" y="1051560"/>
            <a:ext cx="1920240" cy="1005840"/>
          </a:xfrm>
          <a:prstGeom prst="rect">
            <a:avLst/>
          </a:prstGeom>
          <a:solidFill>
            <a:srgbClr val="F7E4E2"/>
          </a:solidFill>
          <a:ln w="12700">
            <a:solidFill>
              <a:srgbClr val="F7E4E2"/>
            </a:solidFill>
            <a:prstDash val="solid"/>
          </a:ln>
        </p:spPr>
      </p:sp>
      <p:sp>
        <p:nvSpPr>
          <p:cNvPr id="12" name="Shape 10"/>
          <p:cNvSpPr/>
          <p:nvPr/>
        </p:nvSpPr>
        <p:spPr>
          <a:xfrm>
            <a:off x="4663440" y="1051560"/>
            <a:ext cx="73152" cy="1005840"/>
          </a:xfrm>
          <a:prstGeom prst="rect">
            <a:avLst/>
          </a:prstGeom>
          <a:solidFill>
            <a:srgbClr val="7B2420"/>
          </a:solidFill>
          <a:ln w="12700">
            <a:solidFill>
              <a:srgbClr val="7B2420"/>
            </a:solidFill>
            <a:prstDash val="solid"/>
          </a:ln>
        </p:spPr>
      </p:sp>
      <p:sp>
        <p:nvSpPr>
          <p:cNvPr id="13" name="Text 11"/>
          <p:cNvSpPr txBox="1"/>
          <p:nvPr/>
        </p:nvSpPr>
        <p:spPr>
          <a:xfrm>
            <a:off x="4846320" y="1097280"/>
            <a:ext cx="1645920" cy="548640"/>
          </a:xfrm>
          <a:prstGeom prst="rect">
            <a:avLst/>
          </a:prstGeom>
          <a:noFill/>
          <a:ln/>
        </p:spPr>
        <p:txBody>
          <a:bodyPr wrap="square" lIns="0" tIns="0" rIns="0" bIns="0" rtlCol="0" anchor="ctr"/>
          <a:lstStyle/>
          <a:p>
            <a:pPr indent="0" marL="0">
              <a:buNone/>
            </a:pPr>
            <a:r>
              <a:rPr lang="en-US" sz="2400" b="1" dirty="0">
                <a:solidFill>
                  <a:srgbClr val="7B2420"/>
                </a:solidFill>
                <a:latin typeface="Georgia" pitchFamily="34" charset="0"/>
                <a:ea typeface="Georgia" pitchFamily="34" charset="-122"/>
                <a:cs typeface="Georgia" pitchFamily="34" charset="-120"/>
              </a:rPr>
              <a:t>$59.76</a:t>
            </a:r>
            <a:endParaRPr lang="en-US" sz="2400" dirty="0"/>
          </a:p>
        </p:txBody>
      </p:sp>
      <p:sp>
        <p:nvSpPr>
          <p:cNvPr id="14" name="Text 12"/>
          <p:cNvSpPr txBox="1"/>
          <p:nvPr/>
        </p:nvSpPr>
        <p:spPr>
          <a:xfrm>
            <a:off x="4846320" y="1645920"/>
            <a:ext cx="1645920" cy="320040"/>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Average purchase</a:t>
            </a:r>
            <a:endParaRPr lang="en-US" sz="1200" dirty="0"/>
          </a:p>
        </p:txBody>
      </p:sp>
      <p:sp>
        <p:nvSpPr>
          <p:cNvPr id="15" name="Shape 13"/>
          <p:cNvSpPr/>
          <p:nvPr/>
        </p:nvSpPr>
        <p:spPr>
          <a:xfrm>
            <a:off x="6766560" y="1051560"/>
            <a:ext cx="1920240" cy="1005840"/>
          </a:xfrm>
          <a:prstGeom prst="rect">
            <a:avLst/>
          </a:prstGeom>
          <a:solidFill>
            <a:srgbClr val="F7E4E2"/>
          </a:solidFill>
          <a:ln w="12700">
            <a:solidFill>
              <a:srgbClr val="F7E4E2"/>
            </a:solidFill>
            <a:prstDash val="solid"/>
          </a:ln>
        </p:spPr>
      </p:sp>
      <p:sp>
        <p:nvSpPr>
          <p:cNvPr id="16" name="Shape 14"/>
          <p:cNvSpPr/>
          <p:nvPr/>
        </p:nvSpPr>
        <p:spPr>
          <a:xfrm>
            <a:off x="6766560" y="1051560"/>
            <a:ext cx="73152" cy="1005840"/>
          </a:xfrm>
          <a:prstGeom prst="rect">
            <a:avLst/>
          </a:prstGeom>
          <a:solidFill>
            <a:srgbClr val="7B2420"/>
          </a:solidFill>
          <a:ln w="12700">
            <a:solidFill>
              <a:srgbClr val="7B2420"/>
            </a:solidFill>
            <a:prstDash val="solid"/>
          </a:ln>
        </p:spPr>
      </p:sp>
      <p:sp>
        <p:nvSpPr>
          <p:cNvPr id="17" name="Text 15"/>
          <p:cNvSpPr txBox="1"/>
          <p:nvPr/>
        </p:nvSpPr>
        <p:spPr>
          <a:xfrm>
            <a:off x="6949440" y="1097280"/>
            <a:ext cx="1645920" cy="548640"/>
          </a:xfrm>
          <a:prstGeom prst="rect">
            <a:avLst/>
          </a:prstGeom>
          <a:noFill/>
          <a:ln/>
        </p:spPr>
        <p:txBody>
          <a:bodyPr wrap="square" lIns="0" tIns="0" rIns="0" bIns="0" rtlCol="0" anchor="ctr"/>
          <a:lstStyle/>
          <a:p>
            <a:pPr indent="0" marL="0">
              <a:buNone/>
            </a:pPr>
            <a:r>
              <a:rPr lang="en-US" sz="2400" b="1" dirty="0">
                <a:solidFill>
                  <a:srgbClr val="7B2420"/>
                </a:solidFill>
                <a:latin typeface="Georgia" pitchFamily="34" charset="0"/>
                <a:ea typeface="Georgia" pitchFamily="34" charset="-122"/>
                <a:cs typeface="Georgia" pitchFamily="34" charset="-120"/>
              </a:rPr>
              <a:t>3.75 / 5</a:t>
            </a:r>
            <a:endParaRPr lang="en-US" sz="2400" dirty="0"/>
          </a:p>
        </p:txBody>
      </p:sp>
      <p:sp>
        <p:nvSpPr>
          <p:cNvPr id="18" name="Text 16"/>
          <p:cNvSpPr txBox="1"/>
          <p:nvPr/>
        </p:nvSpPr>
        <p:spPr>
          <a:xfrm>
            <a:off x="6949440" y="1645920"/>
            <a:ext cx="1645920" cy="320040"/>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Average rating</a:t>
            </a:r>
            <a:endParaRPr lang="en-US" sz="1200" dirty="0"/>
          </a:p>
        </p:txBody>
      </p:sp>
      <p:graphicFrame>
        <p:nvGraphicFramePr>
          <p:cNvPr id="19" name="Chart 0" descr=""/>
          <p:cNvGraphicFramePr/>
          <p:nvPr/>
        </p:nvGraphicFramePr>
        <p:xfrm>
          <a:off x="457200" y="2240280"/>
          <a:ext cx="4937760" cy="2560320"/>
        </p:xfrm>
        <a:graphic xmlns:a="http://schemas.openxmlformats.org/drawingml/2006/main">
          <a:graphicData uri="http://schemas.openxmlformats.org/drawingml/2006/chart">
            <c:chart xmlns:c="http://schemas.openxmlformats.org/drawingml/2006/chart" r:id="rId1"/>
          </a:graphicData>
        </a:graphic>
      </p:graphicFrame>
      <p:sp>
        <p:nvSpPr>
          <p:cNvPr id="20" name="Text 17"/>
          <p:cNvSpPr txBox="1"/>
          <p:nvPr/>
        </p:nvSpPr>
        <p:spPr>
          <a:xfrm>
            <a:off x="5669280" y="2560320"/>
            <a:ext cx="3017520" cy="20116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B2B2B"/>
                </a:solidFill>
                <a:latin typeface="Calibri" pitchFamily="34" charset="0"/>
                <a:ea typeface="Calibri" pitchFamily="34" charset="-122"/>
                <a:cs typeface="Calibri" pitchFamily="34" charset="-120"/>
              </a:rPr>
              <a:t>Clothing and Accessories bring 76% of revenue</a:t>
            </a:r>
            <a:endParaRPr lang="en-US" sz="1500" dirty="0"/>
          </a:p>
          <a:p>
            <a:pPr marL="342900" indent="-342900">
              <a:spcAft>
                <a:spcPts val="1000"/>
              </a:spcAft>
              <a:buSzPct val="100000"/>
              <a:buChar char="•"/>
            </a:pPr>
            <a:r>
              <a:rPr lang="en-US" sz="1500" dirty="0">
                <a:solidFill>
                  <a:srgbClr val="2B2B2B"/>
                </a:solidFill>
                <a:latin typeface="Calibri" pitchFamily="34" charset="0"/>
                <a:ea typeface="Calibri" pitchFamily="34" charset="-122"/>
                <a:cs typeface="Calibri" pitchFamily="34" charset="-120"/>
              </a:rPr>
              <a:t>Outerwear is the smallest category at 8%</a:t>
            </a:r>
            <a:endParaRPr lang="en-US" sz="1500" dirty="0"/>
          </a:p>
          <a:p>
            <a:pPr marL="342900" indent="-342900">
              <a:spcAft>
                <a:spcPts val="1000"/>
              </a:spcAft>
              <a:buSzPct val="100000"/>
              <a:buChar char="•"/>
            </a:pPr>
            <a:r>
              <a:rPr lang="en-US" sz="1500" dirty="0">
                <a:solidFill>
                  <a:srgbClr val="2B2B2B"/>
                </a:solidFill>
                <a:latin typeface="Calibri" pitchFamily="34" charset="0"/>
                <a:ea typeface="Calibri" pitchFamily="34" charset="-122"/>
                <a:cs typeface="Calibri" pitchFamily="34" charset="-120"/>
              </a:rPr>
              <a:t>Average purchase is about $60 in every category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7B2420"/>
                </a:solidFill>
                <a:latin typeface="Georgia" pitchFamily="34" charset="0"/>
                <a:ea typeface="Georgia" pitchFamily="34" charset="-122"/>
                <a:cs typeface="Georgia" pitchFamily="34" charset="-120"/>
              </a:rPr>
              <a:t>What the SQL Analysis Showed</a:t>
            </a:r>
            <a:endParaRPr lang="en-US" sz="2800" dirty="0"/>
          </a:p>
        </p:txBody>
      </p:sp>
      <p:sp>
        <p:nvSpPr>
          <p:cNvPr id="3" name="Shape 1"/>
          <p:cNvSpPr/>
          <p:nvPr/>
        </p:nvSpPr>
        <p:spPr>
          <a:xfrm>
            <a:off x="457200" y="1097280"/>
            <a:ext cx="2651760" cy="1691640"/>
          </a:xfrm>
          <a:prstGeom prst="rect">
            <a:avLst/>
          </a:prstGeom>
          <a:solidFill>
            <a:srgbClr val="F7E4E2"/>
          </a:solidFill>
          <a:ln w="12700">
            <a:solidFill>
              <a:srgbClr val="F7E4E2"/>
            </a:solidFill>
            <a:prstDash val="solid"/>
          </a:ln>
        </p:spPr>
      </p:sp>
      <p:sp>
        <p:nvSpPr>
          <p:cNvPr id="4" name="Shape 2"/>
          <p:cNvSpPr/>
          <p:nvPr/>
        </p:nvSpPr>
        <p:spPr>
          <a:xfrm>
            <a:off x="457200" y="1097280"/>
            <a:ext cx="73152" cy="1691640"/>
          </a:xfrm>
          <a:prstGeom prst="rect">
            <a:avLst/>
          </a:prstGeom>
          <a:solidFill>
            <a:srgbClr val="7B2420"/>
          </a:solidFill>
          <a:ln w="12700">
            <a:solidFill>
              <a:srgbClr val="7B2420"/>
            </a:solidFill>
            <a:prstDash val="solid"/>
          </a:ln>
        </p:spPr>
      </p:sp>
      <p:sp>
        <p:nvSpPr>
          <p:cNvPr id="5" name="Text 3"/>
          <p:cNvSpPr txBox="1"/>
          <p:nvPr/>
        </p:nvSpPr>
        <p:spPr>
          <a:xfrm>
            <a:off x="640080" y="1188720"/>
            <a:ext cx="2377440" cy="274320"/>
          </a:xfrm>
          <a:prstGeom prst="rect">
            <a:avLst/>
          </a:prstGeom>
          <a:noFill/>
          <a:ln/>
        </p:spPr>
        <p:txBody>
          <a:bodyPr wrap="square" lIns="0" tIns="0" rIns="0" bIns="0" rtlCol="0" anchor="ctr"/>
          <a:lstStyle/>
          <a:p>
            <a:pPr indent="0" marL="0">
              <a:buNone/>
            </a:pPr>
            <a:r>
              <a:rPr lang="en-US" sz="1300" b="1" dirty="0">
                <a:solidFill>
                  <a:srgbClr val="6B4A47"/>
                </a:solidFill>
                <a:latin typeface="Calibri" pitchFamily="34" charset="0"/>
                <a:ea typeface="Calibri" pitchFamily="34" charset="-122"/>
                <a:cs typeface="Calibri" pitchFamily="34" charset="-120"/>
              </a:rPr>
              <a:t>Gender</a:t>
            </a:r>
            <a:endParaRPr lang="en-US" sz="1300" dirty="0"/>
          </a:p>
        </p:txBody>
      </p:sp>
      <p:sp>
        <p:nvSpPr>
          <p:cNvPr id="6" name="Text 4"/>
          <p:cNvSpPr txBox="1"/>
          <p:nvPr/>
        </p:nvSpPr>
        <p:spPr>
          <a:xfrm>
            <a:off x="640080" y="1481328"/>
            <a:ext cx="2377440" cy="411480"/>
          </a:xfrm>
          <a:prstGeom prst="rect">
            <a:avLst/>
          </a:prstGeom>
          <a:noFill/>
          <a:ln/>
        </p:spPr>
        <p:txBody>
          <a:bodyPr wrap="square" lIns="0" tIns="0" rIns="0" bIns="0" rtlCol="0" anchor="ctr"/>
          <a:lstStyle/>
          <a:p>
            <a:pPr indent="0" marL="0">
              <a:buNone/>
            </a:pPr>
            <a:r>
              <a:rPr lang="en-US" sz="1800" b="1" dirty="0">
                <a:solidFill>
                  <a:srgbClr val="7B2420"/>
                </a:solidFill>
                <a:latin typeface="Georgia" pitchFamily="34" charset="0"/>
                <a:ea typeface="Georgia" pitchFamily="34" charset="-122"/>
                <a:cs typeface="Georgia" pitchFamily="34" charset="-120"/>
              </a:rPr>
              <a:t>$60.25 vs $59.54</a:t>
            </a:r>
            <a:endParaRPr lang="en-US" sz="1800" dirty="0"/>
          </a:p>
        </p:txBody>
      </p:sp>
      <p:sp>
        <p:nvSpPr>
          <p:cNvPr id="7" name="Text 5"/>
          <p:cNvSpPr txBox="1"/>
          <p:nvPr/>
        </p:nvSpPr>
        <p:spPr>
          <a:xfrm>
            <a:off x="640080" y="1938528"/>
            <a:ext cx="2377440" cy="77724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Women vs. men average spend. Men bring more revenue only because there are more male customers.</a:t>
            </a:r>
            <a:endParaRPr lang="en-US" sz="1150" dirty="0"/>
          </a:p>
        </p:txBody>
      </p:sp>
      <p:sp>
        <p:nvSpPr>
          <p:cNvPr id="8" name="Shape 6"/>
          <p:cNvSpPr/>
          <p:nvPr/>
        </p:nvSpPr>
        <p:spPr>
          <a:xfrm>
            <a:off x="3246120" y="1097280"/>
            <a:ext cx="2651760" cy="1691640"/>
          </a:xfrm>
          <a:prstGeom prst="rect">
            <a:avLst/>
          </a:prstGeom>
          <a:solidFill>
            <a:srgbClr val="F7E4E2"/>
          </a:solidFill>
          <a:ln w="12700">
            <a:solidFill>
              <a:srgbClr val="F7E4E2"/>
            </a:solidFill>
            <a:prstDash val="solid"/>
          </a:ln>
        </p:spPr>
      </p:sp>
      <p:sp>
        <p:nvSpPr>
          <p:cNvPr id="9" name="Shape 7"/>
          <p:cNvSpPr/>
          <p:nvPr/>
        </p:nvSpPr>
        <p:spPr>
          <a:xfrm>
            <a:off x="3246120" y="1097280"/>
            <a:ext cx="73152" cy="1691640"/>
          </a:xfrm>
          <a:prstGeom prst="rect">
            <a:avLst/>
          </a:prstGeom>
          <a:solidFill>
            <a:srgbClr val="7B2420"/>
          </a:solidFill>
          <a:ln w="12700">
            <a:solidFill>
              <a:srgbClr val="7B2420"/>
            </a:solidFill>
            <a:prstDash val="solid"/>
          </a:ln>
        </p:spPr>
      </p:sp>
      <p:sp>
        <p:nvSpPr>
          <p:cNvPr id="10" name="Text 8"/>
          <p:cNvSpPr txBox="1"/>
          <p:nvPr/>
        </p:nvSpPr>
        <p:spPr>
          <a:xfrm>
            <a:off x="3429000" y="1188720"/>
            <a:ext cx="2377440" cy="274320"/>
          </a:xfrm>
          <a:prstGeom prst="rect">
            <a:avLst/>
          </a:prstGeom>
          <a:noFill/>
          <a:ln/>
        </p:spPr>
        <p:txBody>
          <a:bodyPr wrap="square" lIns="0" tIns="0" rIns="0" bIns="0" rtlCol="0" anchor="ctr"/>
          <a:lstStyle/>
          <a:p>
            <a:pPr indent="0" marL="0">
              <a:buNone/>
            </a:pPr>
            <a:r>
              <a:rPr lang="en-US" sz="1300" b="1" dirty="0">
                <a:solidFill>
                  <a:srgbClr val="6B4A47"/>
                </a:solidFill>
                <a:latin typeface="Calibri" pitchFamily="34" charset="0"/>
                <a:ea typeface="Calibri" pitchFamily="34" charset="-122"/>
                <a:cs typeface="Calibri" pitchFamily="34" charset="-120"/>
              </a:rPr>
              <a:t>Subscribers</a:t>
            </a:r>
            <a:endParaRPr lang="en-US" sz="1300" dirty="0"/>
          </a:p>
        </p:txBody>
      </p:sp>
      <p:sp>
        <p:nvSpPr>
          <p:cNvPr id="11" name="Text 9"/>
          <p:cNvSpPr txBox="1"/>
          <p:nvPr/>
        </p:nvSpPr>
        <p:spPr>
          <a:xfrm>
            <a:off x="3429000" y="1481328"/>
            <a:ext cx="2377440" cy="411480"/>
          </a:xfrm>
          <a:prstGeom prst="rect">
            <a:avLst/>
          </a:prstGeom>
          <a:noFill/>
          <a:ln/>
        </p:spPr>
        <p:txBody>
          <a:bodyPr wrap="square" lIns="0" tIns="0" rIns="0" bIns="0" rtlCol="0" anchor="ctr"/>
          <a:lstStyle/>
          <a:p>
            <a:pPr indent="0" marL="0">
              <a:buNone/>
            </a:pPr>
            <a:r>
              <a:rPr lang="en-US" sz="1800" b="1" dirty="0">
                <a:solidFill>
                  <a:srgbClr val="7B2420"/>
                </a:solidFill>
                <a:latin typeface="Georgia" pitchFamily="34" charset="0"/>
                <a:ea typeface="Georgia" pitchFamily="34" charset="-122"/>
                <a:cs typeface="Georgia" pitchFamily="34" charset="-120"/>
              </a:rPr>
              <a:t>27% subscribe</a:t>
            </a:r>
            <a:endParaRPr lang="en-US" sz="1800" dirty="0"/>
          </a:p>
        </p:txBody>
      </p:sp>
      <p:sp>
        <p:nvSpPr>
          <p:cNvPr id="12" name="Text 10"/>
          <p:cNvSpPr txBox="1"/>
          <p:nvPr/>
        </p:nvSpPr>
        <p:spPr>
          <a:xfrm>
            <a:off x="3429000" y="1938528"/>
            <a:ext cx="2377440" cy="77724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Subscribers do not spend more ($59.49 vs. $59.87 for non-subscribers).</a:t>
            </a:r>
            <a:endParaRPr lang="en-US" sz="1150" dirty="0"/>
          </a:p>
        </p:txBody>
      </p:sp>
      <p:sp>
        <p:nvSpPr>
          <p:cNvPr id="13" name="Shape 11"/>
          <p:cNvSpPr/>
          <p:nvPr/>
        </p:nvSpPr>
        <p:spPr>
          <a:xfrm>
            <a:off x="6035040" y="1097280"/>
            <a:ext cx="2651760" cy="1691640"/>
          </a:xfrm>
          <a:prstGeom prst="rect">
            <a:avLst/>
          </a:prstGeom>
          <a:solidFill>
            <a:srgbClr val="F7E4E2"/>
          </a:solidFill>
          <a:ln w="12700">
            <a:solidFill>
              <a:srgbClr val="F7E4E2"/>
            </a:solidFill>
            <a:prstDash val="solid"/>
          </a:ln>
        </p:spPr>
      </p:sp>
      <p:sp>
        <p:nvSpPr>
          <p:cNvPr id="14" name="Shape 12"/>
          <p:cNvSpPr/>
          <p:nvPr/>
        </p:nvSpPr>
        <p:spPr>
          <a:xfrm>
            <a:off x="6035040" y="1097280"/>
            <a:ext cx="73152" cy="1691640"/>
          </a:xfrm>
          <a:prstGeom prst="rect">
            <a:avLst/>
          </a:prstGeom>
          <a:solidFill>
            <a:srgbClr val="7B2420"/>
          </a:solidFill>
          <a:ln w="12700">
            <a:solidFill>
              <a:srgbClr val="7B2420"/>
            </a:solidFill>
            <a:prstDash val="solid"/>
          </a:ln>
        </p:spPr>
      </p:sp>
      <p:sp>
        <p:nvSpPr>
          <p:cNvPr id="15" name="Text 13"/>
          <p:cNvSpPr txBox="1"/>
          <p:nvPr/>
        </p:nvSpPr>
        <p:spPr>
          <a:xfrm>
            <a:off x="6217920" y="1188720"/>
            <a:ext cx="2377440" cy="274320"/>
          </a:xfrm>
          <a:prstGeom prst="rect">
            <a:avLst/>
          </a:prstGeom>
          <a:noFill/>
          <a:ln/>
        </p:spPr>
        <p:txBody>
          <a:bodyPr wrap="square" lIns="0" tIns="0" rIns="0" bIns="0" rtlCol="0" anchor="ctr"/>
          <a:lstStyle/>
          <a:p>
            <a:pPr indent="0" marL="0">
              <a:buNone/>
            </a:pPr>
            <a:r>
              <a:rPr lang="en-US" sz="1300" b="1" dirty="0">
                <a:solidFill>
                  <a:srgbClr val="6B4A47"/>
                </a:solidFill>
                <a:latin typeface="Calibri" pitchFamily="34" charset="0"/>
                <a:ea typeface="Calibri" pitchFamily="34" charset="-122"/>
                <a:cs typeface="Calibri" pitchFamily="34" charset="-120"/>
              </a:rPr>
              <a:t>Discounts</a:t>
            </a:r>
            <a:endParaRPr lang="en-US" sz="1300" dirty="0"/>
          </a:p>
        </p:txBody>
      </p:sp>
      <p:sp>
        <p:nvSpPr>
          <p:cNvPr id="16" name="Text 14"/>
          <p:cNvSpPr txBox="1"/>
          <p:nvPr/>
        </p:nvSpPr>
        <p:spPr>
          <a:xfrm>
            <a:off x="6217920" y="1481328"/>
            <a:ext cx="2377440" cy="411480"/>
          </a:xfrm>
          <a:prstGeom prst="rect">
            <a:avLst/>
          </a:prstGeom>
          <a:noFill/>
          <a:ln/>
        </p:spPr>
        <p:txBody>
          <a:bodyPr wrap="square" lIns="0" tIns="0" rIns="0" bIns="0" rtlCol="0" anchor="ctr"/>
          <a:lstStyle/>
          <a:p>
            <a:pPr indent="0" marL="0">
              <a:buNone/>
            </a:pPr>
            <a:r>
              <a:rPr lang="en-US" sz="1800" b="1" dirty="0">
                <a:solidFill>
                  <a:srgbClr val="7B2420"/>
                </a:solidFill>
                <a:latin typeface="Georgia" pitchFamily="34" charset="0"/>
                <a:ea typeface="Georgia" pitchFamily="34" charset="-122"/>
                <a:cs typeface="Georgia" pitchFamily="34" charset="-120"/>
              </a:rPr>
              <a:t>43% of purchases</a:t>
            </a:r>
            <a:endParaRPr lang="en-US" sz="1800" dirty="0"/>
          </a:p>
        </p:txBody>
      </p:sp>
      <p:sp>
        <p:nvSpPr>
          <p:cNvPr id="17" name="Text 15"/>
          <p:cNvSpPr txBox="1"/>
          <p:nvPr/>
        </p:nvSpPr>
        <p:spPr>
          <a:xfrm>
            <a:off x="6217920" y="1938528"/>
            <a:ext cx="2377440" cy="77724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Discounted purchases are not bigger ($59.28 vs. $60.13). Hats and Sneakers are discounted most.</a:t>
            </a:r>
            <a:endParaRPr lang="en-US" sz="1150" dirty="0"/>
          </a:p>
        </p:txBody>
      </p:sp>
      <p:sp>
        <p:nvSpPr>
          <p:cNvPr id="18" name="Shape 16"/>
          <p:cNvSpPr/>
          <p:nvPr/>
        </p:nvSpPr>
        <p:spPr>
          <a:xfrm>
            <a:off x="457200" y="2926080"/>
            <a:ext cx="2651760" cy="1691640"/>
          </a:xfrm>
          <a:prstGeom prst="rect">
            <a:avLst/>
          </a:prstGeom>
          <a:solidFill>
            <a:srgbClr val="F7E4E2"/>
          </a:solidFill>
          <a:ln w="12700">
            <a:solidFill>
              <a:srgbClr val="F7E4E2"/>
            </a:solidFill>
            <a:prstDash val="solid"/>
          </a:ln>
        </p:spPr>
      </p:sp>
      <p:sp>
        <p:nvSpPr>
          <p:cNvPr id="19" name="Shape 17"/>
          <p:cNvSpPr/>
          <p:nvPr/>
        </p:nvSpPr>
        <p:spPr>
          <a:xfrm>
            <a:off x="457200" y="2926080"/>
            <a:ext cx="73152" cy="1691640"/>
          </a:xfrm>
          <a:prstGeom prst="rect">
            <a:avLst/>
          </a:prstGeom>
          <a:solidFill>
            <a:srgbClr val="7B2420"/>
          </a:solidFill>
          <a:ln w="12700">
            <a:solidFill>
              <a:srgbClr val="7B2420"/>
            </a:solidFill>
            <a:prstDash val="solid"/>
          </a:ln>
        </p:spPr>
      </p:sp>
      <p:sp>
        <p:nvSpPr>
          <p:cNvPr id="20" name="Text 18"/>
          <p:cNvSpPr txBox="1"/>
          <p:nvPr/>
        </p:nvSpPr>
        <p:spPr>
          <a:xfrm>
            <a:off x="640080" y="3017520"/>
            <a:ext cx="2377440" cy="274320"/>
          </a:xfrm>
          <a:prstGeom prst="rect">
            <a:avLst/>
          </a:prstGeom>
          <a:noFill/>
          <a:ln/>
        </p:spPr>
        <p:txBody>
          <a:bodyPr wrap="square" lIns="0" tIns="0" rIns="0" bIns="0" rtlCol="0" anchor="ctr"/>
          <a:lstStyle/>
          <a:p>
            <a:pPr indent="0" marL="0">
              <a:buNone/>
            </a:pPr>
            <a:r>
              <a:rPr lang="en-US" sz="1300" b="1" dirty="0">
                <a:solidFill>
                  <a:srgbClr val="6B4A47"/>
                </a:solidFill>
                <a:latin typeface="Calibri" pitchFamily="34" charset="0"/>
                <a:ea typeface="Calibri" pitchFamily="34" charset="-122"/>
                <a:cs typeface="Calibri" pitchFamily="34" charset="-120"/>
              </a:rPr>
              <a:t>Customer segments</a:t>
            </a:r>
            <a:endParaRPr lang="en-US" sz="1300" dirty="0"/>
          </a:p>
        </p:txBody>
      </p:sp>
      <p:sp>
        <p:nvSpPr>
          <p:cNvPr id="21" name="Text 19"/>
          <p:cNvSpPr txBox="1"/>
          <p:nvPr/>
        </p:nvSpPr>
        <p:spPr>
          <a:xfrm>
            <a:off x="640080" y="3310128"/>
            <a:ext cx="2377440" cy="411480"/>
          </a:xfrm>
          <a:prstGeom prst="rect">
            <a:avLst/>
          </a:prstGeom>
          <a:noFill/>
          <a:ln/>
        </p:spPr>
        <p:txBody>
          <a:bodyPr wrap="square" lIns="0" tIns="0" rIns="0" bIns="0" rtlCol="0" anchor="ctr"/>
          <a:lstStyle/>
          <a:p>
            <a:pPr indent="0" marL="0">
              <a:buNone/>
            </a:pPr>
            <a:r>
              <a:rPr lang="en-US" sz="1800" b="1" dirty="0">
                <a:solidFill>
                  <a:srgbClr val="7B2420"/>
                </a:solidFill>
                <a:latin typeface="Georgia" pitchFamily="34" charset="0"/>
                <a:ea typeface="Georgia" pitchFamily="34" charset="-122"/>
                <a:cs typeface="Georgia" pitchFamily="34" charset="-120"/>
              </a:rPr>
              <a:t>80% are Loyal</a:t>
            </a:r>
            <a:endParaRPr lang="en-US" sz="1800" dirty="0"/>
          </a:p>
        </p:txBody>
      </p:sp>
      <p:sp>
        <p:nvSpPr>
          <p:cNvPr id="22" name="Text 20"/>
          <p:cNvSpPr txBox="1"/>
          <p:nvPr/>
        </p:nvSpPr>
        <p:spPr>
          <a:xfrm>
            <a:off x="640080" y="3767328"/>
            <a:ext cx="2377440" cy="77724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Only 2% of customers are new, so growth relies on the existing loyal base.</a:t>
            </a:r>
            <a:endParaRPr lang="en-US" sz="1150" dirty="0"/>
          </a:p>
        </p:txBody>
      </p:sp>
      <p:sp>
        <p:nvSpPr>
          <p:cNvPr id="23" name="Shape 21"/>
          <p:cNvSpPr/>
          <p:nvPr/>
        </p:nvSpPr>
        <p:spPr>
          <a:xfrm>
            <a:off x="3246120" y="2926080"/>
            <a:ext cx="2651760" cy="1691640"/>
          </a:xfrm>
          <a:prstGeom prst="rect">
            <a:avLst/>
          </a:prstGeom>
          <a:solidFill>
            <a:srgbClr val="F7E4E2"/>
          </a:solidFill>
          <a:ln w="12700">
            <a:solidFill>
              <a:srgbClr val="F7E4E2"/>
            </a:solidFill>
            <a:prstDash val="solid"/>
          </a:ln>
        </p:spPr>
      </p:sp>
      <p:sp>
        <p:nvSpPr>
          <p:cNvPr id="24" name="Shape 22"/>
          <p:cNvSpPr/>
          <p:nvPr/>
        </p:nvSpPr>
        <p:spPr>
          <a:xfrm>
            <a:off x="3246120" y="2926080"/>
            <a:ext cx="73152" cy="1691640"/>
          </a:xfrm>
          <a:prstGeom prst="rect">
            <a:avLst/>
          </a:prstGeom>
          <a:solidFill>
            <a:srgbClr val="7B2420"/>
          </a:solidFill>
          <a:ln w="12700">
            <a:solidFill>
              <a:srgbClr val="7B2420"/>
            </a:solidFill>
            <a:prstDash val="solid"/>
          </a:ln>
        </p:spPr>
      </p:sp>
      <p:sp>
        <p:nvSpPr>
          <p:cNvPr id="25" name="Text 23"/>
          <p:cNvSpPr txBox="1"/>
          <p:nvPr/>
        </p:nvSpPr>
        <p:spPr>
          <a:xfrm>
            <a:off x="3429000" y="3017520"/>
            <a:ext cx="2377440" cy="274320"/>
          </a:xfrm>
          <a:prstGeom prst="rect">
            <a:avLst/>
          </a:prstGeom>
          <a:noFill/>
          <a:ln/>
        </p:spPr>
        <p:txBody>
          <a:bodyPr wrap="square" lIns="0" tIns="0" rIns="0" bIns="0" rtlCol="0" anchor="ctr"/>
          <a:lstStyle/>
          <a:p>
            <a:pPr indent="0" marL="0">
              <a:buNone/>
            </a:pPr>
            <a:r>
              <a:rPr lang="en-US" sz="1300" b="1" dirty="0">
                <a:solidFill>
                  <a:srgbClr val="6B4A47"/>
                </a:solidFill>
                <a:latin typeface="Calibri" pitchFamily="34" charset="0"/>
                <a:ea typeface="Calibri" pitchFamily="34" charset="-122"/>
                <a:cs typeface="Calibri" pitchFamily="34" charset="-120"/>
              </a:rPr>
              <a:t>Shipping</a:t>
            </a:r>
            <a:endParaRPr lang="en-US" sz="1300" dirty="0"/>
          </a:p>
        </p:txBody>
      </p:sp>
      <p:sp>
        <p:nvSpPr>
          <p:cNvPr id="26" name="Text 24"/>
          <p:cNvSpPr txBox="1"/>
          <p:nvPr/>
        </p:nvSpPr>
        <p:spPr>
          <a:xfrm>
            <a:off x="3429000" y="3310128"/>
            <a:ext cx="2377440" cy="411480"/>
          </a:xfrm>
          <a:prstGeom prst="rect">
            <a:avLst/>
          </a:prstGeom>
          <a:noFill/>
          <a:ln/>
        </p:spPr>
        <p:txBody>
          <a:bodyPr wrap="square" lIns="0" tIns="0" rIns="0" bIns="0" rtlCol="0" anchor="ctr"/>
          <a:lstStyle/>
          <a:p>
            <a:pPr indent="0" marL="0">
              <a:buNone/>
            </a:pPr>
            <a:r>
              <a:rPr lang="en-US" sz="1800" b="1" dirty="0">
                <a:solidFill>
                  <a:srgbClr val="7B2420"/>
                </a:solidFill>
                <a:latin typeface="Georgia" pitchFamily="34" charset="0"/>
                <a:ea typeface="Georgia" pitchFamily="34" charset="-122"/>
                <a:cs typeface="Georgia" pitchFamily="34" charset="-120"/>
              </a:rPr>
              <a:t>$60.48 vs $58.46</a:t>
            </a:r>
            <a:endParaRPr lang="en-US" sz="1800" dirty="0"/>
          </a:p>
        </p:txBody>
      </p:sp>
      <p:sp>
        <p:nvSpPr>
          <p:cNvPr id="27" name="Text 25"/>
          <p:cNvSpPr txBox="1"/>
          <p:nvPr/>
        </p:nvSpPr>
        <p:spPr>
          <a:xfrm>
            <a:off x="3429000" y="3767328"/>
            <a:ext cx="2377440" cy="77724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Express vs. Standard average purchase. A small gap of about $2.</a:t>
            </a:r>
            <a:endParaRPr lang="en-US" sz="1150" dirty="0"/>
          </a:p>
        </p:txBody>
      </p:sp>
      <p:sp>
        <p:nvSpPr>
          <p:cNvPr id="28" name="Shape 26"/>
          <p:cNvSpPr/>
          <p:nvPr/>
        </p:nvSpPr>
        <p:spPr>
          <a:xfrm>
            <a:off x="6035040" y="2926080"/>
            <a:ext cx="2651760" cy="1691640"/>
          </a:xfrm>
          <a:prstGeom prst="rect">
            <a:avLst/>
          </a:prstGeom>
          <a:solidFill>
            <a:srgbClr val="F7E4E2"/>
          </a:solidFill>
          <a:ln w="12700">
            <a:solidFill>
              <a:srgbClr val="F7E4E2"/>
            </a:solidFill>
            <a:prstDash val="solid"/>
          </a:ln>
        </p:spPr>
      </p:sp>
      <p:sp>
        <p:nvSpPr>
          <p:cNvPr id="29" name="Shape 27"/>
          <p:cNvSpPr/>
          <p:nvPr/>
        </p:nvSpPr>
        <p:spPr>
          <a:xfrm>
            <a:off x="6035040" y="2926080"/>
            <a:ext cx="73152" cy="1691640"/>
          </a:xfrm>
          <a:prstGeom prst="rect">
            <a:avLst/>
          </a:prstGeom>
          <a:solidFill>
            <a:srgbClr val="7B2420"/>
          </a:solidFill>
          <a:ln w="12700">
            <a:solidFill>
              <a:srgbClr val="7B2420"/>
            </a:solidFill>
            <a:prstDash val="solid"/>
          </a:ln>
        </p:spPr>
      </p:sp>
      <p:sp>
        <p:nvSpPr>
          <p:cNvPr id="30" name="Text 28"/>
          <p:cNvSpPr txBox="1"/>
          <p:nvPr/>
        </p:nvSpPr>
        <p:spPr>
          <a:xfrm>
            <a:off x="6217920" y="3017520"/>
            <a:ext cx="2377440" cy="274320"/>
          </a:xfrm>
          <a:prstGeom prst="rect">
            <a:avLst/>
          </a:prstGeom>
          <a:noFill/>
          <a:ln/>
        </p:spPr>
        <p:txBody>
          <a:bodyPr wrap="square" lIns="0" tIns="0" rIns="0" bIns="0" rtlCol="0" anchor="ctr"/>
          <a:lstStyle/>
          <a:p>
            <a:pPr indent="0" marL="0">
              <a:buNone/>
            </a:pPr>
            <a:r>
              <a:rPr lang="en-US" sz="1300" b="1" dirty="0">
                <a:solidFill>
                  <a:srgbClr val="6B4A47"/>
                </a:solidFill>
                <a:latin typeface="Calibri" pitchFamily="34" charset="0"/>
                <a:ea typeface="Calibri" pitchFamily="34" charset="-122"/>
                <a:cs typeface="Calibri" pitchFamily="34" charset="-120"/>
              </a:rPr>
              <a:t>Age groups</a:t>
            </a:r>
            <a:endParaRPr lang="en-US" sz="1300" dirty="0"/>
          </a:p>
        </p:txBody>
      </p:sp>
      <p:sp>
        <p:nvSpPr>
          <p:cNvPr id="31" name="Text 29"/>
          <p:cNvSpPr txBox="1"/>
          <p:nvPr/>
        </p:nvSpPr>
        <p:spPr>
          <a:xfrm>
            <a:off x="6217920" y="3310128"/>
            <a:ext cx="2377440" cy="411480"/>
          </a:xfrm>
          <a:prstGeom prst="rect">
            <a:avLst/>
          </a:prstGeom>
          <a:noFill/>
          <a:ln/>
        </p:spPr>
        <p:txBody>
          <a:bodyPr wrap="square" lIns="0" tIns="0" rIns="0" bIns="0" rtlCol="0" anchor="ctr"/>
          <a:lstStyle/>
          <a:p>
            <a:pPr indent="0" marL="0">
              <a:buNone/>
            </a:pPr>
            <a:r>
              <a:rPr lang="en-US" sz="1800" b="1" dirty="0">
                <a:solidFill>
                  <a:srgbClr val="7B2420"/>
                </a:solidFill>
                <a:latin typeface="Georgia" pitchFamily="34" charset="0"/>
                <a:ea typeface="Georgia" pitchFamily="34" charset="-122"/>
                <a:cs typeface="Georgia" pitchFamily="34" charset="-120"/>
              </a:rPr>
              <a:t>Ages 18-31 lead</a:t>
            </a:r>
            <a:endParaRPr lang="en-US" sz="1800" dirty="0"/>
          </a:p>
        </p:txBody>
      </p:sp>
      <p:sp>
        <p:nvSpPr>
          <p:cNvPr id="32" name="Text 30"/>
          <p:cNvSpPr txBox="1"/>
          <p:nvPr/>
        </p:nvSpPr>
        <p:spPr>
          <a:xfrm>
            <a:off x="6217920" y="3767328"/>
            <a:ext cx="2377440" cy="77724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Young Adults bring the most revenue ($62K), but all age groups are close.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7B2420"/>
                </a:solidFill>
                <a:latin typeface="Georgia" pitchFamily="34" charset="0"/>
                <a:ea typeface="Georgia" pitchFamily="34" charset="-122"/>
                <a:cs typeface="Georgia" pitchFamily="34" charset="-120"/>
              </a:rPr>
              <a:t>Power BI Dashboard</a:t>
            </a:r>
            <a:endParaRPr lang="en-US" sz="2800" dirty="0"/>
          </a:p>
        </p:txBody>
      </p:sp>
      <p:pic>
        <p:nvPicPr>
          <p:cNvPr id="3" name="Image 0" descr="Customer Behavior Dashboard built in Power BI">    </p:cNvPr>
          <p:cNvPicPr>
            <a:picLocks noChangeAspect="1"/>
          </p:cNvPicPr>
          <p:nvPr/>
        </p:nvPicPr>
        <p:blipFill>
          <a:blip r:embed="rId1"/>
          <a:stretch>
            <a:fillRect/>
          </a:stretch>
        </p:blipFill>
        <p:spPr>
          <a:xfrm>
            <a:off x="914400" y="960120"/>
            <a:ext cx="7315200" cy="410565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7B2420"/>
                </a:solidFill>
                <a:latin typeface="Georgia" pitchFamily="34" charset="0"/>
                <a:ea typeface="Georgia" pitchFamily="34" charset="-122"/>
                <a:cs typeface="Georgia" pitchFamily="34" charset="-120"/>
              </a:rPr>
              <a:t>Recommendations and Conclusion</a:t>
            </a:r>
            <a:endParaRPr lang="en-US" sz="2800" dirty="0"/>
          </a:p>
        </p:txBody>
      </p:sp>
      <p:sp>
        <p:nvSpPr>
          <p:cNvPr id="3" name="Shape 1"/>
          <p:cNvSpPr/>
          <p:nvPr/>
        </p:nvSpPr>
        <p:spPr>
          <a:xfrm>
            <a:off x="457200" y="1097280"/>
            <a:ext cx="457200" cy="457200"/>
          </a:xfrm>
          <a:prstGeom prst="ellipse">
            <a:avLst/>
          </a:prstGeom>
          <a:solidFill>
            <a:srgbClr val="7B2420"/>
          </a:solidFill>
          <a:ln w="12700">
            <a:solidFill>
              <a:srgbClr val="7B2420"/>
            </a:solidFill>
            <a:prstDash val="solid"/>
          </a:ln>
        </p:spPr>
      </p:sp>
      <p:sp>
        <p:nvSpPr>
          <p:cNvPr id="4" name="Text 2"/>
          <p:cNvSpPr txBox="1"/>
          <p:nvPr/>
        </p:nvSpPr>
        <p:spPr>
          <a:xfrm>
            <a:off x="457200" y="1097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097280" y="1005840"/>
            <a:ext cx="4480560" cy="640080"/>
          </a:xfrm>
          <a:prstGeom prst="rect">
            <a:avLst/>
          </a:prstGeom>
          <a:noFill/>
          <a:ln/>
        </p:spPr>
        <p:txBody>
          <a:bodyPr wrap="square" lIns="0" tIns="0" rIns="0" bIns="0" rtlCol="0" anchor="ctr"/>
          <a:lstStyle/>
          <a:p>
            <a:pPr indent="0" marL="0">
              <a:buNone/>
            </a:pPr>
            <a:r>
              <a:rPr lang="en-US" sz="1350" b="1" dirty="0">
                <a:solidFill>
                  <a:srgbClr val="7B2420"/>
                </a:solidFill>
                <a:latin typeface="Calibri" pitchFamily="34" charset="0"/>
                <a:ea typeface="Calibri" pitchFamily="34" charset="-122"/>
                <a:cs typeface="Calibri" pitchFamily="34" charset="-120"/>
              </a:rPr>
              <a:t>Improve subscriptions: </a:t>
            </a:r>
            <a:pPr indent="0" marL="0">
              <a:buNone/>
            </a:pPr>
            <a:r>
              <a:rPr lang="en-US" sz="1350" dirty="0">
                <a:solidFill>
                  <a:srgbClr val="2B2B2B"/>
                </a:solidFill>
                <a:latin typeface="Calibri" pitchFamily="34" charset="0"/>
                <a:ea typeface="Calibri" pitchFamily="34" charset="-122"/>
                <a:cs typeface="Calibri" pitchFamily="34" charset="-120"/>
              </a:rPr>
              <a:t>add real benefits and offer free trials to repeat buyers</a:t>
            </a:r>
            <a:endParaRPr lang="en-US" sz="1350" dirty="0"/>
          </a:p>
        </p:txBody>
      </p:sp>
      <p:sp>
        <p:nvSpPr>
          <p:cNvPr id="6" name="Shape 4"/>
          <p:cNvSpPr/>
          <p:nvPr/>
        </p:nvSpPr>
        <p:spPr>
          <a:xfrm>
            <a:off x="457200" y="1828800"/>
            <a:ext cx="457200" cy="457200"/>
          </a:xfrm>
          <a:prstGeom prst="ellipse">
            <a:avLst/>
          </a:prstGeom>
          <a:solidFill>
            <a:srgbClr val="7B2420"/>
          </a:solidFill>
          <a:ln w="12700">
            <a:solidFill>
              <a:srgbClr val="7B2420"/>
            </a:solidFill>
            <a:prstDash val="solid"/>
          </a:ln>
        </p:spPr>
      </p:sp>
      <p:sp>
        <p:nvSpPr>
          <p:cNvPr id="7" name="Text 5"/>
          <p:cNvSpPr txBox="1"/>
          <p:nvPr/>
        </p:nvSpPr>
        <p:spPr>
          <a:xfrm>
            <a:off x="45720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txBox="1"/>
          <p:nvPr/>
        </p:nvSpPr>
        <p:spPr>
          <a:xfrm>
            <a:off x="1097280" y="1737360"/>
            <a:ext cx="4480560" cy="640080"/>
          </a:xfrm>
          <a:prstGeom prst="rect">
            <a:avLst/>
          </a:prstGeom>
          <a:noFill/>
          <a:ln/>
        </p:spPr>
        <p:txBody>
          <a:bodyPr wrap="square" lIns="0" tIns="0" rIns="0" bIns="0" rtlCol="0" anchor="ctr"/>
          <a:lstStyle/>
          <a:p>
            <a:pPr indent="0" marL="0">
              <a:buNone/>
            </a:pPr>
            <a:r>
              <a:rPr lang="en-US" sz="1350" b="1" dirty="0">
                <a:solidFill>
                  <a:srgbClr val="7B2420"/>
                </a:solidFill>
                <a:latin typeface="Calibri" pitchFamily="34" charset="0"/>
                <a:ea typeface="Calibri" pitchFamily="34" charset="-122"/>
                <a:cs typeface="Calibri" pitchFamily="34" charset="-120"/>
              </a:rPr>
              <a:t>Cut unnecessary discounts: </a:t>
            </a:r>
            <a:pPr indent="0" marL="0">
              <a:buNone/>
            </a:pPr>
            <a:r>
              <a:rPr lang="en-US" sz="1350" dirty="0">
                <a:solidFill>
                  <a:srgbClr val="2B2B2B"/>
                </a:solidFill>
                <a:latin typeface="Calibri" pitchFamily="34" charset="0"/>
                <a:ea typeface="Calibri" pitchFamily="34" charset="-122"/>
                <a:cs typeface="Calibri" pitchFamily="34" charset="-120"/>
              </a:rPr>
              <a:t>test fewer discounts on Hats, Sneakers and Coats</a:t>
            </a:r>
            <a:endParaRPr lang="en-US" sz="1350" dirty="0"/>
          </a:p>
        </p:txBody>
      </p:sp>
      <p:sp>
        <p:nvSpPr>
          <p:cNvPr id="9" name="Shape 7"/>
          <p:cNvSpPr/>
          <p:nvPr/>
        </p:nvSpPr>
        <p:spPr>
          <a:xfrm>
            <a:off x="457200" y="2560320"/>
            <a:ext cx="457200" cy="457200"/>
          </a:xfrm>
          <a:prstGeom prst="ellipse">
            <a:avLst/>
          </a:prstGeom>
          <a:solidFill>
            <a:srgbClr val="7B2420"/>
          </a:solidFill>
          <a:ln w="12700">
            <a:solidFill>
              <a:srgbClr val="7B2420"/>
            </a:solidFill>
            <a:prstDash val="solid"/>
          </a:ln>
        </p:spPr>
      </p:sp>
      <p:sp>
        <p:nvSpPr>
          <p:cNvPr id="10"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txBox="1"/>
          <p:nvPr/>
        </p:nvSpPr>
        <p:spPr>
          <a:xfrm>
            <a:off x="1097280" y="2468880"/>
            <a:ext cx="4480560" cy="640080"/>
          </a:xfrm>
          <a:prstGeom prst="rect">
            <a:avLst/>
          </a:prstGeom>
          <a:noFill/>
          <a:ln/>
        </p:spPr>
        <p:txBody>
          <a:bodyPr wrap="square" lIns="0" tIns="0" rIns="0" bIns="0" rtlCol="0" anchor="ctr"/>
          <a:lstStyle/>
          <a:p>
            <a:pPr indent="0" marL="0">
              <a:buNone/>
            </a:pPr>
            <a:r>
              <a:rPr lang="en-US" sz="1350" b="1" dirty="0">
                <a:solidFill>
                  <a:srgbClr val="7B2420"/>
                </a:solidFill>
                <a:latin typeface="Calibri" pitchFamily="34" charset="0"/>
                <a:ea typeface="Calibri" pitchFamily="34" charset="-122"/>
                <a:cs typeface="Calibri" pitchFamily="34" charset="-120"/>
              </a:rPr>
              <a:t>Win new customers: </a:t>
            </a:r>
            <a:pPr indent="0" marL="0">
              <a:buNone/>
            </a:pPr>
            <a:r>
              <a:rPr lang="en-US" sz="1350" dirty="0">
                <a:solidFill>
                  <a:srgbClr val="2B2B2B"/>
                </a:solidFill>
                <a:latin typeface="Calibri" pitchFamily="34" charset="0"/>
                <a:ea typeface="Calibri" pitchFamily="34" charset="-122"/>
                <a:cs typeface="Calibri" pitchFamily="34" charset="-120"/>
              </a:rPr>
              <a:t>only 2% are new, so run first-purchase offers</a:t>
            </a:r>
            <a:endParaRPr lang="en-US" sz="1350" dirty="0"/>
          </a:p>
        </p:txBody>
      </p:sp>
      <p:sp>
        <p:nvSpPr>
          <p:cNvPr id="12" name="Shape 10"/>
          <p:cNvSpPr/>
          <p:nvPr/>
        </p:nvSpPr>
        <p:spPr>
          <a:xfrm>
            <a:off x="457200" y="3291840"/>
            <a:ext cx="457200" cy="457200"/>
          </a:xfrm>
          <a:prstGeom prst="ellipse">
            <a:avLst/>
          </a:prstGeom>
          <a:solidFill>
            <a:srgbClr val="7B2420"/>
          </a:solidFill>
          <a:ln w="12700">
            <a:solidFill>
              <a:srgbClr val="7B2420"/>
            </a:solidFill>
            <a:prstDash val="solid"/>
          </a:ln>
        </p:spPr>
      </p:sp>
      <p:sp>
        <p:nvSpPr>
          <p:cNvPr id="13" name="Text 11"/>
          <p:cNvSpPr txBox="1"/>
          <p:nvPr/>
        </p:nvSpPr>
        <p:spPr>
          <a:xfrm>
            <a:off x="457200" y="3291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txBox="1"/>
          <p:nvPr/>
        </p:nvSpPr>
        <p:spPr>
          <a:xfrm>
            <a:off x="1097280" y="3200400"/>
            <a:ext cx="4480560" cy="640080"/>
          </a:xfrm>
          <a:prstGeom prst="rect">
            <a:avLst/>
          </a:prstGeom>
          <a:noFill/>
          <a:ln/>
        </p:spPr>
        <p:txBody>
          <a:bodyPr wrap="square" lIns="0" tIns="0" rIns="0" bIns="0" rtlCol="0" anchor="ctr"/>
          <a:lstStyle/>
          <a:p>
            <a:pPr indent="0" marL="0">
              <a:buNone/>
            </a:pPr>
            <a:r>
              <a:rPr lang="en-US" sz="1350" b="1" dirty="0">
                <a:solidFill>
                  <a:srgbClr val="7B2420"/>
                </a:solidFill>
                <a:latin typeface="Calibri" pitchFamily="34" charset="0"/>
                <a:ea typeface="Calibri" pitchFamily="34" charset="-122"/>
                <a:cs typeface="Calibri" pitchFamily="34" charset="-120"/>
              </a:rPr>
              <a:t>Attract more women: </a:t>
            </a:r>
            <a:pPr indent="0" marL="0">
              <a:buNone/>
            </a:pPr>
            <a:r>
              <a:rPr lang="en-US" sz="1350" dirty="0">
                <a:solidFill>
                  <a:srgbClr val="2B2B2B"/>
                </a:solidFill>
                <a:latin typeface="Calibri" pitchFamily="34" charset="0"/>
                <a:ea typeface="Calibri" pitchFamily="34" charset="-122"/>
                <a:cs typeface="Calibri" pitchFamily="34" charset="-120"/>
              </a:rPr>
              <a:t>same spend as men, but only 32% of customers</a:t>
            </a:r>
            <a:endParaRPr lang="en-US" sz="1350" dirty="0"/>
          </a:p>
        </p:txBody>
      </p:sp>
      <p:sp>
        <p:nvSpPr>
          <p:cNvPr id="15" name="Shape 13"/>
          <p:cNvSpPr/>
          <p:nvPr/>
        </p:nvSpPr>
        <p:spPr>
          <a:xfrm>
            <a:off x="457200" y="4023360"/>
            <a:ext cx="457200" cy="457200"/>
          </a:xfrm>
          <a:prstGeom prst="ellipse">
            <a:avLst/>
          </a:prstGeom>
          <a:solidFill>
            <a:srgbClr val="7B2420"/>
          </a:solidFill>
          <a:ln w="12700">
            <a:solidFill>
              <a:srgbClr val="7B2420"/>
            </a:solidFill>
            <a:prstDash val="solid"/>
          </a:ln>
        </p:spPr>
      </p:sp>
      <p:sp>
        <p:nvSpPr>
          <p:cNvPr id="16" name="Text 14"/>
          <p:cNvSpPr txBox="1"/>
          <p:nvPr/>
        </p:nvSpPr>
        <p:spPr>
          <a:xfrm>
            <a:off x="457200" y="4023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7" name="Text 15"/>
          <p:cNvSpPr txBox="1"/>
          <p:nvPr/>
        </p:nvSpPr>
        <p:spPr>
          <a:xfrm>
            <a:off x="1097280" y="3931920"/>
            <a:ext cx="4480560" cy="640080"/>
          </a:xfrm>
          <a:prstGeom prst="rect">
            <a:avLst/>
          </a:prstGeom>
          <a:noFill/>
          <a:ln/>
        </p:spPr>
        <p:txBody>
          <a:bodyPr wrap="square" lIns="0" tIns="0" rIns="0" bIns="0" rtlCol="0" anchor="ctr"/>
          <a:lstStyle/>
          <a:p>
            <a:pPr indent="0" marL="0">
              <a:buNone/>
            </a:pPr>
            <a:r>
              <a:rPr lang="en-US" sz="1350" b="1" dirty="0">
                <a:solidFill>
                  <a:srgbClr val="7B2420"/>
                </a:solidFill>
                <a:latin typeface="Calibri" pitchFamily="34" charset="0"/>
                <a:ea typeface="Calibri" pitchFamily="34" charset="-122"/>
                <a:cs typeface="Calibri" pitchFamily="34" charset="-120"/>
              </a:rPr>
              <a:t>Boost Outerwear: </a:t>
            </a:r>
            <a:pPr indent="0" marL="0">
              <a:buNone/>
            </a:pPr>
            <a:r>
              <a:rPr lang="en-US" sz="1350" dirty="0">
                <a:solidFill>
                  <a:srgbClr val="2B2B2B"/>
                </a:solidFill>
                <a:latin typeface="Calibri" pitchFamily="34" charset="0"/>
                <a:ea typeface="Calibri" pitchFamily="34" charset="-122"/>
                <a:cs typeface="Calibri" pitchFamily="34" charset="-120"/>
              </a:rPr>
              <a:t>just 8% of revenue, so bundle it with Clothing</a:t>
            </a:r>
            <a:endParaRPr lang="en-US" sz="1350" dirty="0"/>
          </a:p>
        </p:txBody>
      </p:sp>
      <p:sp>
        <p:nvSpPr>
          <p:cNvPr id="18" name="Shape 16"/>
          <p:cNvSpPr/>
          <p:nvPr/>
        </p:nvSpPr>
        <p:spPr>
          <a:xfrm>
            <a:off x="5852160" y="1097280"/>
            <a:ext cx="2834640" cy="3566160"/>
          </a:xfrm>
          <a:prstGeom prst="rect">
            <a:avLst/>
          </a:prstGeom>
          <a:solidFill>
            <a:srgbClr val="7B2420"/>
          </a:solidFill>
          <a:ln w="12700">
            <a:solidFill>
              <a:srgbClr val="7B2420"/>
            </a:solidFill>
            <a:prstDash val="solid"/>
          </a:ln>
        </p:spPr>
      </p:sp>
      <p:sp>
        <p:nvSpPr>
          <p:cNvPr id="19" name="Text 17"/>
          <p:cNvSpPr txBox="1"/>
          <p:nvPr/>
        </p:nvSpPr>
        <p:spPr>
          <a:xfrm>
            <a:off x="6080760" y="1234440"/>
            <a:ext cx="2377440" cy="45720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Conclusion</a:t>
            </a:r>
            <a:endParaRPr lang="en-US" sz="2000" dirty="0"/>
          </a:p>
        </p:txBody>
      </p:sp>
      <p:sp>
        <p:nvSpPr>
          <p:cNvPr id="20" name="Text 18"/>
          <p:cNvSpPr txBox="1"/>
          <p:nvPr/>
        </p:nvSpPr>
        <p:spPr>
          <a:xfrm>
            <a:off x="6080760" y="1783080"/>
            <a:ext cx="2377440" cy="27432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Our customers are loyal and evenly spread across ages and regions. Subscriptions and discounts are not raising spend, so the biggest chances are smarter offers, more new customers and stronger Outerwear sales.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Shopping Behavior Analysis</dc:title>
  <dc:subject>PptxGenJS Presentation</dc:subject>
  <dc:creator>PptxGenJS</dc:creator>
  <cp:lastModifiedBy>PptxGenJS</cp:lastModifiedBy>
  <cp:revision>1</cp:revision>
  <dcterms:created xsi:type="dcterms:W3CDTF">2026-10-24T03:26:01Z</dcterms:created>
  <dcterms:modified xsi:type="dcterms:W3CDTF">2026-10-24T03:26:01Z</dcterms:modified>
</cp:coreProperties>
</file>